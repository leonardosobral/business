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84bccd76a74279" /><Relationship Type="http://schemas.openxmlformats.org/officeDocument/2006/relationships/extended-properties" Target="/docProps/app.xml" Id="R0de778301e5a49f7" /><Relationship Type="http://schemas.openxmlformats.org/officeDocument/2006/relationships/officeDocument" Target="/ppt/presentation.xml" Id="R7323cb2ecc6a48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81dec32714208"/>
  </p:sldMasterIdLst>
  <p:notesMasterIdLst>
    <p:notesMasterId xmlns:r="http://schemas.openxmlformats.org/officeDocument/2006/relationships" r:id="Rac44c30b86c0408b"/>
  </p:notesMasterIdLst>
  <p:sldIdLst>
    <p:sldId xmlns:r="http://schemas.openxmlformats.org/officeDocument/2006/relationships" id="256" r:id="R6c01671e68a94770"/>
    <p:sldId xmlns:r="http://schemas.openxmlformats.org/officeDocument/2006/relationships" id="257" r:id="R1a4d39b523e24269"/>
    <p:sldId xmlns:r="http://schemas.openxmlformats.org/officeDocument/2006/relationships" id="258" r:id="R20f1a1c202bc4464"/>
    <p:sldId xmlns:r="http://schemas.openxmlformats.org/officeDocument/2006/relationships" id="259" r:id="R0a80c74ff56a480a"/>
    <p:sldId xmlns:r="http://schemas.openxmlformats.org/officeDocument/2006/relationships" id="260" r:id="R0ee4797ae8e04c0a"/>
    <p:sldId xmlns:r="http://schemas.openxmlformats.org/officeDocument/2006/relationships" id="261" r:id="R8cc3f3f14c2a4632"/>
    <p:sldId xmlns:r="http://schemas.openxmlformats.org/officeDocument/2006/relationships" id="262" r:id="Rc0fddd36300d4535"/>
    <p:sldId xmlns:r="http://schemas.openxmlformats.org/officeDocument/2006/relationships" id="263" r:id="R275c5812d3da4938"/>
    <p:sldId xmlns:r="http://schemas.openxmlformats.org/officeDocument/2006/relationships" id="264" r:id="R6a687129e89448c2"/>
    <p:sldId xmlns:r="http://schemas.openxmlformats.org/officeDocument/2006/relationships" id="265" r:id="R2cf60637b4ea4390"/>
    <p:sldId xmlns:r="http://schemas.openxmlformats.org/officeDocument/2006/relationships" id="266" r:id="Rf4780a7caf0f4897"/>
    <p:sldId xmlns:r="http://schemas.openxmlformats.org/officeDocument/2006/relationships" id="267" r:id="R49e55be484d04fe7"/>
    <p:sldId xmlns:r="http://schemas.openxmlformats.org/officeDocument/2006/relationships" id="268" r:id="Rbb77a35f7cf34c38"/>
    <p:sldId xmlns:r="http://schemas.openxmlformats.org/officeDocument/2006/relationships" id="269" r:id="R2a8b19f2b25144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d5b544ee2b4a08" /><Relationship Type="http://schemas.openxmlformats.org/officeDocument/2006/relationships/slideMaster" Target="/ppt/slideMasters/slideMaster1.xml" Id="R70581dec32714208" /><Relationship Type="http://schemas.openxmlformats.org/officeDocument/2006/relationships/notesMaster" Target="/ppt/notesMasters/notesMaster1.xml" Id="Rac44c30b86c0408b" /><Relationship Type="http://schemas.openxmlformats.org/officeDocument/2006/relationships/presProps" Target="/ppt/presProps.xml" Id="Rf34a3c1fb4fc4c94" /><Relationship Type="http://schemas.openxmlformats.org/officeDocument/2006/relationships/tableStyles" Target="/ppt/tableStyles.xml" Id="R2df55e246b114449" /><Relationship Type="http://schemas.openxmlformats.org/officeDocument/2006/relationships/slide" Target="/ppt/slides/slide1.xml" Id="R6c01671e68a94770" /><Relationship Type="http://schemas.openxmlformats.org/officeDocument/2006/relationships/slide" Target="/ppt/slides/slide2.xml" Id="R1a4d39b523e24269" /><Relationship Type="http://schemas.openxmlformats.org/officeDocument/2006/relationships/slide" Target="/ppt/slides/slide3.xml" Id="R20f1a1c202bc4464" /><Relationship Type="http://schemas.openxmlformats.org/officeDocument/2006/relationships/slide" Target="/ppt/slides/slide4.xml" Id="R0a80c74ff56a480a" /><Relationship Type="http://schemas.openxmlformats.org/officeDocument/2006/relationships/slide" Target="/ppt/slides/slide5.xml" Id="R0ee4797ae8e04c0a" /><Relationship Type="http://schemas.openxmlformats.org/officeDocument/2006/relationships/slide" Target="/ppt/slides/slide6.xml" Id="R8cc3f3f14c2a4632" /><Relationship Type="http://schemas.openxmlformats.org/officeDocument/2006/relationships/slide" Target="/ppt/slides/slide7.xml" Id="Rc0fddd36300d4535" /><Relationship Type="http://schemas.openxmlformats.org/officeDocument/2006/relationships/slide" Target="/ppt/slides/slide8.xml" Id="R275c5812d3da4938" /><Relationship Type="http://schemas.openxmlformats.org/officeDocument/2006/relationships/slide" Target="/ppt/slides/slide9.xml" Id="R6a687129e89448c2" /><Relationship Type="http://schemas.openxmlformats.org/officeDocument/2006/relationships/slide" Target="/ppt/slides/slide10.xml" Id="R2cf60637b4ea4390" /><Relationship Type="http://schemas.openxmlformats.org/officeDocument/2006/relationships/slide" Target="/ppt/slides/slide11.xml" Id="Rf4780a7caf0f4897" /><Relationship Type="http://schemas.openxmlformats.org/officeDocument/2006/relationships/slide" Target="/ppt/slides/slide12.xml" Id="R49e55be484d04fe7" /><Relationship Type="http://schemas.openxmlformats.org/officeDocument/2006/relationships/slide" Target="/ppt/slides/slide13.xml" Id="Rbb77a35f7cf34c38" /><Relationship Type="http://schemas.openxmlformats.org/officeDocument/2006/relationships/slide" Target="/ppt/slides/slide14.xml" Id="R2a8b19f2b25144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15f2951cdb4a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80bd977b884a54" /><Relationship Type="http://schemas.openxmlformats.org/officeDocument/2006/relationships/notesMaster" Target="/ppt/notesMasters/notesMaster1.xml" Id="Re49976a8274a40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673f97d13427c" /><Relationship Type="http://schemas.openxmlformats.org/officeDocument/2006/relationships/notesMaster" Target="/ppt/notesMasters/notesMaster1.xml" Id="R872f7c261ee648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ab0dd3b641456a" /><Relationship Type="http://schemas.openxmlformats.org/officeDocument/2006/relationships/notesMaster" Target="/ppt/notesMasters/notesMaster1.xml" Id="R315c659dd43643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7fec717dcb490a" /><Relationship Type="http://schemas.openxmlformats.org/officeDocument/2006/relationships/notesMaster" Target="/ppt/notesMasters/notesMaster1.xml" Id="R6a442dafaaf343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a71aa4097647f9" /><Relationship Type="http://schemas.openxmlformats.org/officeDocument/2006/relationships/notesMaster" Target="/ppt/notesMasters/notesMaster1.xml" Id="R56805845d90b45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9765dd4c92494c" /><Relationship Type="http://schemas.openxmlformats.org/officeDocument/2006/relationships/notesMaster" Target="/ppt/notesMasters/notesMaster1.xml" Id="R2c6a6290e4fc42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c2edee935f4c32" /><Relationship Type="http://schemas.openxmlformats.org/officeDocument/2006/relationships/notesMaster" Target="/ppt/notesMasters/notesMaster1.xml" Id="R3ff6cae24acd4b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a377649ede4540" /><Relationship Type="http://schemas.openxmlformats.org/officeDocument/2006/relationships/notesMaster" Target="/ppt/notesMasters/notesMaster1.xml" Id="R99bd2910b83c4b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5604fae83e4ee0" /><Relationship Type="http://schemas.openxmlformats.org/officeDocument/2006/relationships/notesMaster" Target="/ppt/notesMasters/notesMaster1.xml" Id="R46ad9898e6e847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cc6c3d6c9a417c" /><Relationship Type="http://schemas.openxmlformats.org/officeDocument/2006/relationships/notesMaster" Target="/ppt/notesMasters/notesMaster1.xml" Id="Rbb883e416ab44b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41b33146be498e" /><Relationship Type="http://schemas.openxmlformats.org/officeDocument/2006/relationships/notesMaster" Target="/ppt/notesMasters/notesMaster1.xml" Id="R69c78ac85ad64e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ae8fa2ba0e4cda" /><Relationship Type="http://schemas.openxmlformats.org/officeDocument/2006/relationships/notesMaster" Target="/ppt/notesMasters/notesMaster1.xml" Id="R0d412d9fad3f4b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ed8bdaa86e4066" /><Relationship Type="http://schemas.openxmlformats.org/officeDocument/2006/relationships/notesMaster" Target="/ppt/notesMasters/notesMaster1.xml" Id="Re1fad8fe9d6c44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223d47da524d18" /><Relationship Type="http://schemas.openxmlformats.org/officeDocument/2006/relationships/notesMaster" Target="/ppt/notesMasters/notesMaster1.xml" Id="R1a00ce9722634d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propor uma plataforma anual para posicionar a NSC como referência catarinense em corrida e a RunnerHub como sua camada de inteligência e dados.</a:t>
            </a:r>
          </a:p>
          <a:p xmlns:a="http://schemas.openxmlformats.org/drawingml/2006/main">
            <a:r>
              <a:t>Imagem: ativo institucional RunnerHub, assets/rr_fundo_horiz.jpg.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base oficial RunnerHub fornecida pelo usuário. Corte em 10/09/2026.</a:t>
            </a:r>
          </a:p>
          <a:p xmlns:a="http://schemas.openxmlformats.org/drawingml/2006/main">
            <a:r>
              <a:t>Dados: calendário cadastrado SC — 2024: 405; 2025: 559; 2026: 596. Até 10/09 — 2024: 226; 2025: 278; 2026: 399.</a:t>
            </a:r>
          </a:p>
          <a:p xmlns:a="http://schemas.openxmlformats.org/drawingml/2006/main">
            <a:r>
              <a:t>Crescimentos: 2025 vs 2024 = 38,0%; 2026 vs 2025 = 6,6%; período até 10/09: 2025 vs 2024 = 23,0%; 2026 vs 2025 = 43,5%.</a:t>
            </a:r>
          </a:p>
          <a:p xmlns:a="http://schemas.openxmlformats.org/drawingml/2006/main">
            <a:r>
              <a:t>Posição nacional: 6º em 2024; 5º em 2025 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externas: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Fonte RunnerHub: base oficial fornecida pelo usuário.</a:t>
            </a:r>
          </a:p>
          <a:p xmlns:a="http://schemas.openxmlformats.org/drawingml/2006/main">
            <a:r>
              <a:t>Nota metodológica: não calcular cobertura, subnotificação ou erro de uma fonte pela diferença entre 478 e 559. Os universos e critérios de inclusão não são publicamente equivalentes. O argumento seguro é exigir fonte, critério, corte e cobertura em qualquer pauta.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2–3.</a:t>
            </a:r>
          </a:p>
          <a:p xmlns:a="http://schemas.openxmlformats.org/drawingml/2006/main">
            <a:r>
              <a:t>O estudo reporta 9,2 mil eventos mapeados, 5,3 milhões de concluintes e cobertura analítica de 84,1% dos eventos mapeados. Os demais 15,9% incluem provas sem resultado publicado, sem confirmação de execução, não cronometradas ou não competitivas.</a:t>
            </a:r>
          </a:p>
          <a:p xmlns:a="http://schemas.openxmlformats.org/drawingml/2006/main">
            <a:r>
              <a:t>O acervo Open Results contém mais de 11 milhões de resultados republicados, conforme o estudo.</a:t>
            </a:r>
          </a:p>
          <a:p xmlns:a="http://schemas.openxmlformats.org/drawingml/2006/main">
            <a:r>
              <a:t>Usar ‘conclusões registradas’ ou ‘resultados’, nunca ‘corredores únicos’.</a:t>
            </a:r>
          </a:p>
          <a:p xmlns:a="http://schemas.openxmlformats.org/drawingml/2006/main">
            <a:r>
              <a:t>Imagem: ativo institucional RunnerHub, assets/rbi_fundo_horizontal.jpg.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3, 5, 11 e 12.</a:t>
            </a:r>
          </a:p>
          <a:p xmlns:a="http://schemas.openxmlformats.org/drawingml/2006/main">
            <a:r>
              <a:t>Dados: 52,9% mulheres; 47,1% homens; 59,1% dos resultados em distâncias de até 5 km; Millennials 50,5%; quarto trimestre 33,5%; novembro 13,4%.</a:t>
            </a:r>
          </a:p>
          <a:p xmlns:a="http://schemas.openxmlformats.org/drawingml/2006/main">
            <a:r>
              <a:t>A frase sobre oportunidade editorial é uma inferência estratégica da RunnerHub baseada no perfil, recorrência e sazonalidade observados.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Os quatro pilares são componentes a co-desenhar com a NSC.</a:t>
            </a:r>
          </a:p>
          <a:p xmlns:a="http://schemas.openxmlformats.org/drawingml/2006/main">
            <a:r>
              <a:t>Evidências de capacidade NSC: TV, rádio, digital, imprensa e experiências presenciais integradas.</a:t>
            </a:r>
          </a:p>
          <a:p xmlns:a="http://schemas.openxmlformats.org/drawingml/2006/main">
            <a:r>
              <a:t>Fontes: https://nsc.com.br/marcas-nsc/nsc-tv/ e https://nsc.com.br/quem-somos/.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A etapa ‘inscrição’ foi deliberadamente descrita como escolha/comparação, pois a RunnerHub pode direcionar o atleta sem afirmar que processa toda inscrição.</a:t>
            </a:r>
          </a:p>
          <a:p xmlns:a="http://schemas.openxmlformats.org/drawingml/2006/main">
            <a:r>
              <a:t>CRM e segmentação devem operar somente com consentimento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oficial Clube NSC: https://clubensc.com.br/sobre-o-clube/ e https://clubensc.com.br/.</a:t>
            </a:r>
          </a:p>
          <a:p xmlns:a="http://schemas.openxmlformats.org/drawingml/2006/main">
            <a:r>
              <a:t>O Clube NSC é apresentado como programa de benefícios exclusivo para assinantes NSC Total, com mais de 500 parceiros em Santa Catarina, descontos de até 50%, eventos e promoções exclusivas.</a:t>
            </a:r>
          </a:p>
          <a:p xmlns:a="http://schemas.openxmlformats.org/drawingml/2006/main">
            <a:r>
              <a:t>Todos os benefícios listados neste slide são propostas. Dependem de negociação comercial, disponibilidade, integração técnica e consentimento do usuário quando houver dados pessoais ou ranking.</a:t>
            </a:r>
          </a:p>
          <a:p xmlns:a="http://schemas.openxmlformats.org/drawingml/2006/main">
            <a:r>
              <a:t>Logo Clube NSC obtido do site oficial para uso nesta proposta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comercial RunnerHub. Inventário, métricas e categorias são hipóteses para desenho conjunto com editorial, comercial, produto e Clube NSC.</a:t>
            </a:r>
          </a:p>
          <a:p xmlns:a="http://schemas.openxmlformats.org/drawingml/2006/main">
            <a:r>
              <a:t>Qualquer uso de dados pessoais, segmentação, ranking, CRM ou compartilhamento com patrocinadores deve respeitar consentimento, finalidade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operacional RunnerHub. Metas quantitativas devem ser definidas depois da linha de base dos canais NSC, do Clube NSC e do inventário de parceiros.</a:t>
            </a:r>
          </a:p>
          <a:p xmlns:a="http://schemas.openxmlformats.org/drawingml/2006/main">
            <a:r>
              <a:t>Sugestão: usar um evento âncora já relacionado à NSC ou uma prova parceira com acesso operacional aos dados e direitos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sugerido: solicitar um workshop de 90 minutos com líderes de editorial, comercial, produto e Clube NSC para fechar o escopo do piloto.</a:t>
            </a:r>
          </a:p>
          <a:p xmlns:a="http://schemas.openxmlformats.org/drawingml/2006/main">
            <a:r>
              <a:t>A proposta não depende de criar uma nova corrida imediatamente. Pode começar sobre um evento existente ou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artigo Máquina do Esporte, publicação ABRACEO e base oficial RunnerHub.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Não afirmar que uma fonte ‘espera passivamente’ informação de afiliados sem documentação pública. O ponto demonstrável é que universos e critérios diferem e precisam ser explicitados.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governança RunnerHub. Ajustar responsabilidades no workshop de co-desenho.</a:t>
            </a:r>
          </a:p>
          <a:p xmlns:a="http://schemas.openxmlformats.org/drawingml/2006/main">
            <a:r>
              <a:t>Confirmar direitos de uso de marcas, eventos, imagens, resultados e bases antes do lançamento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locais:</a:t>
            </a:r>
          </a:p>
          <a:p xmlns:a="http://schemas.openxmlformats.org/drawingml/2006/main">
            <a:r>
              <a:t>/Users/leonardosobral/Downloads/BrasilQueCorreProvas2025_v3.10.3 (1).pdf</a:t>
            </a:r>
          </a:p>
          <a:p xmlns:a="http://schemas.openxmlformats.org/drawingml/2006/main">
            <a:r>
              <a:t>/Users/leonardosobral/Downloads/Mapear parceria RunnerHub NSC.pdf</a:t>
            </a:r>
          </a:p>
          <a:p xmlns:a="http://schemas.openxmlformats.org/drawingml/2006/main">
            <a:r>
              <a:t>/Users/leonardosobral/Downloads/Apresentacao_Parceria_RunnerHub_NSC.pptx.pdf</a:t>
            </a:r>
          </a:p>
          <a:p xmlns:a="http://schemas.openxmlformats.org/drawingml/2006/main">
            <a:r>
              <a:t>Fontes públicas: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https://nsc.com.br/marcas-nsc/nsc-tv/</a:t>
            </a:r>
          </a:p>
          <a:p xmlns:a="http://schemas.openxmlformats.org/drawingml/2006/main">
            <a:r>
              <a:t>https://nsc.com.br/imprensa/nsc-esporte-amplia-presenca-digital-com-novos-canais-de-conteudo-esportivo/</a:t>
            </a:r>
          </a:p>
          <a:p xmlns:a="http://schemas.openxmlformats.org/drawingml/2006/main">
            <a:r>
              <a:t>https://nsc.com.br/imprensa/corrida-verde-chega-a-joinville-com-experiencia-completa-para-toda-a-familia/</a:t>
            </a:r>
          </a:p>
          <a:p xmlns:a="http://schemas.openxmlformats.org/drawingml/2006/main">
            <a:r>
              <a:t>https://nsc.com.br/imprensa/nsc-esporte-amplia-cobertura-e-participacao-na-24a-edicao-do-ironman/</a:t>
            </a:r>
          </a:p>
          <a:p xmlns:a="http://schemas.openxmlformats.org/drawingml/2006/main">
            <a:r>
              <a:t>https://clubensc.com.br/</a:t>
            </a:r>
          </a:p>
          <a:p xmlns:a="http://schemas.openxmlformats.org/drawingml/2006/main">
            <a:r>
              <a:t>https://clubensc.com.br/sobre-o-clube/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0d5ad0b3541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dbef54dae64ba9" /><Relationship Type="http://schemas.openxmlformats.org/officeDocument/2006/relationships/slideLayout" Target="/ppt/slideLayouts/slideLayout1.xml" Id="R2053219a18ec4f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3219a18ec4f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4044017e14e64" /><Relationship Type="http://schemas.openxmlformats.org/officeDocument/2006/relationships/image" Target="/ppt/media/image.jpeg" Id="Rc39ae58e475c47c1" /><Relationship Type="http://schemas.openxmlformats.org/officeDocument/2006/relationships/image" Target="/ppt/media/image.png" Id="R7b49270d91744dbd" /><Relationship Type="http://schemas.openxmlformats.org/officeDocument/2006/relationships/image" Target="/ppt/media/image2.png" Id="R8723706526b14c9e" /><Relationship Type="http://schemas.openxmlformats.org/officeDocument/2006/relationships/notesSlide" Target="/ppt/notesSlides/notesSlide1.xml" Id="R52d4a7e8613f43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45022b538465d" /><Relationship Type="http://schemas.openxmlformats.org/officeDocument/2006/relationships/chart" Target="/ppt/slides/charts/chart1.xml" Id="R3e91e176d0f94602" /><Relationship Type="http://schemas.openxmlformats.org/officeDocument/2006/relationships/image" Target="/ppt/media/image3.png" Id="R132c0ef95f76444f" /><Relationship Type="http://schemas.openxmlformats.org/officeDocument/2006/relationships/notesSlide" Target="/ppt/notesSlides/notesSlide2.xml" Id="Rf92274ffa18e45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e44ac7d374930" /><Relationship Type="http://schemas.openxmlformats.org/officeDocument/2006/relationships/image" Target="/ppt/media/image4.png" Id="Rf498dbc466bf4e76" /><Relationship Type="http://schemas.openxmlformats.org/officeDocument/2006/relationships/notesSlide" Target="/ppt/notesSlides/notesSlide3.xml" Id="Rd59433d1d94049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3234f865046f3" /><Relationship Type="http://schemas.openxmlformats.org/officeDocument/2006/relationships/image" Target="/ppt/media/image2.jpeg" Id="R451990b068cf4f6c" /><Relationship Type="http://schemas.openxmlformats.org/officeDocument/2006/relationships/image" Target="/ppt/media/image5.png" Id="Rbf841a005a2046ca" /><Relationship Type="http://schemas.openxmlformats.org/officeDocument/2006/relationships/notesSlide" Target="/ppt/notesSlides/notesSlide4.xml" Id="R9fd5d539588348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a0e0ea75b492b" /><Relationship Type="http://schemas.openxmlformats.org/officeDocument/2006/relationships/chart" Target="/ppt/slides/charts/chart2.xml" Id="R77851b2b1bfd4af2" /><Relationship Type="http://schemas.openxmlformats.org/officeDocument/2006/relationships/chart" Target="/ppt/slides/charts/chart3.xml" Id="R2d820dace61949b3" /><Relationship Type="http://schemas.openxmlformats.org/officeDocument/2006/relationships/image" Target="/ppt/media/image6.png" Id="Re66385455db94e35" /><Relationship Type="http://schemas.openxmlformats.org/officeDocument/2006/relationships/notesSlide" Target="/ppt/notesSlides/notesSlide5.xml" Id="Rb1aedf03fe254d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a88b1b5e8405f" /><Relationship Type="http://schemas.openxmlformats.org/officeDocument/2006/relationships/image" Target="/ppt/media/image7.png" Id="R1ced2edce1664a30" /><Relationship Type="http://schemas.openxmlformats.org/officeDocument/2006/relationships/notesSlide" Target="/ppt/notesSlides/notesSlide6.xml" Id="R751dc40a95ae4e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a9e45c3ef487f" /><Relationship Type="http://schemas.openxmlformats.org/officeDocument/2006/relationships/image" Target="/ppt/media/image8.png" Id="Raf6ee16b5f4942cd" /><Relationship Type="http://schemas.openxmlformats.org/officeDocument/2006/relationships/notesSlide" Target="/ppt/notesSlides/notesSlide7.xml" Id="R0d629170447a4e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3c60e5e7d4a3e" /><Relationship Type="http://schemas.openxmlformats.org/officeDocument/2006/relationships/image" Target="/ppt/media/image9.png" Id="R522a2f482f0040b8" /><Relationship Type="http://schemas.openxmlformats.org/officeDocument/2006/relationships/image" Target="/ppt/media/image.svg" Id="R9eb86a531ae04941" /><Relationship Type="http://schemas.openxmlformats.org/officeDocument/2006/relationships/image" Target="/ppt/media/image10.png" Id="Rcba7fc4eeab34a50" /><Relationship Type="http://schemas.openxmlformats.org/officeDocument/2006/relationships/notesSlide" Target="/ppt/notesSlides/notesSlide8.xml" Id="R19744785f72c49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49476f5e44473" /><Relationship Type="http://schemas.openxmlformats.org/officeDocument/2006/relationships/image" Target="/ppt/media/image11.png" Id="R360b06bfc5aa44de" /><Relationship Type="http://schemas.openxmlformats.org/officeDocument/2006/relationships/notesSlide" Target="/ppt/notesSlides/notesSlide9.xml" Id="R4a3882cbffd74a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8384411a44c8e" /><Relationship Type="http://schemas.openxmlformats.org/officeDocument/2006/relationships/image" Target="/ppt/media/image12.png" Id="Rc24c8bf5b5ce43f8" /><Relationship Type="http://schemas.openxmlformats.org/officeDocument/2006/relationships/notesSlide" Target="/ppt/notesSlides/notesSlide10.xml" Id="R2024b807d36343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a6d0e1cff4f0e" /><Relationship Type="http://schemas.openxmlformats.org/officeDocument/2006/relationships/image" Target="/ppt/media/image13.png" Id="R86f620c894e94b2d" /><Relationship Type="http://schemas.openxmlformats.org/officeDocument/2006/relationships/notesSlide" Target="/ppt/notesSlides/notesSlide11.xml" Id="Rf80ffdcd18454b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77d040295432f" /><Relationship Type="http://schemas.openxmlformats.org/officeDocument/2006/relationships/image" Target="/ppt/media/image14.png" Id="Rb1e2aec0baa3484d" /><Relationship Type="http://schemas.openxmlformats.org/officeDocument/2006/relationships/notesSlide" Target="/ppt/notesSlides/notesSlide12.xml" Id="R845d2abe95bc40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64948586340bc" /><Relationship Type="http://schemas.openxmlformats.org/officeDocument/2006/relationships/image" Target="/ppt/media/image15.png" Id="R83efb2777a194963" /><Relationship Type="http://schemas.openxmlformats.org/officeDocument/2006/relationships/notesSlide" Target="/ppt/notesSlides/notesSlide13.xml" Id="R9b92f8bbf87e4d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037ff664c4bce" /><Relationship Type="http://schemas.openxmlformats.org/officeDocument/2006/relationships/image" Target="/ppt/media/image16.png" Id="Ra75fc6fbd63d47e6" /><Relationship Type="http://schemas.openxmlformats.org/officeDocument/2006/relationships/notesSlide" Target="/ppt/notesSlides/notesSlide14.xml" Id="R300c70196d6b4bb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Calendário cadastrado na RunnerHub — Santa Catarina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Provas</c:v>
          </c:tx>
          <c:spPr>
            <a:solidFill xmlns:a="http://schemas.openxmlformats.org/drawingml/2006/main">
              <a:srgbClr val="F7B500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405</c:v>
                </c:pt>
                <c:pt idx="1">
                  <c:v>559</c:v>
                </c:pt>
                <c:pt idx="2">
                  <c:v>596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191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Perfil por gênero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F6413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Mulheres</c:v>
                </c:pt>
                <c:pt idx="1">
                  <c:v>Homens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52.9</c:v>
                </c:pt>
                <c:pt idx="1">
                  <c:v>47.1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Distância dos resultados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7B500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Até 5 km</c:v>
                </c:pt>
                <c:pt idx="1">
                  <c:v>Acima de 5 km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59.1</c:v>
                </c:pt>
                <c:pt idx="1">
                  <c:v>40.9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ae58e475c47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80FEE-B3B2-4477-A05A-E0BA7890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0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1B4A0-1C68-44B2-B9AF-03E40DFD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27F76-E527-4592-B711-450278D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9563100" y="-381000"/>
            <a:ext cx="31432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9270d91744dbd"/>
          <a:stretch xmlns:a="http://schemas.openxmlformats.org/drawingml/2006/main"/>
        </p:blipFill>
        <p:spPr>
          <a:xfrm xmlns:a="http://schemas.openxmlformats.org/drawingml/2006/main">
            <a:off x="685800" y="546100"/>
            <a:ext cx="1790700" cy="298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D1F15-0204-4258-A1B4-59D2337D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"/>
            <a:ext cx="12001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3706526b14c9e"/>
          <a:stretch xmlns:a="http://schemas.openxmlformats.org/drawingml/2006/main"/>
        </p:blipFill>
        <p:spPr>
          <a:xfrm xmlns:a="http://schemas.openxmlformats.org/drawingml/2006/main">
            <a:off x="10637394" y="314325"/>
            <a:ext cx="651762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CF0C6-8039-41EC-83F4-BE57E104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4C0FF-1681-4CB5-AC88-59ADBCE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 DE PLATAFORMA 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B6432-5B2B-4D08-B361-166D5DA6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0CF55-48B8-4C90-9AD7-1D4D1603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525EA-63CD-4356-B0E5-FCB25400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Dados confiáveis, conteúdo útil, comunidade, benefícios e experiências ao longo de 365 dias.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9210A-5231-489F-B161-31A74D59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F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30AA9-4B5A-4754-8973-0D3D214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RUNNERHUB ×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81D25-409F-46C8-96B2-C76F4098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992205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DC982-FB30-47A1-B01C-A1E231AB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95CE7-DB0E-4248-A8CA-474444DD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2A7FE-047F-4EB0-BDBF-4A11753F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Santa Catarina já corre. Falta um lugar que organize essa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69EC0-FBA1-4CF7-8B43-AB95420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densidade do calendário cria pauta, serviço, comunidade e receita durante o ano inteiro.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CDBE9-8298-4736-97FA-0E3A0EC7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D12D6-9485-462E-BD11-CF90B877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F93B0-6DA6-4F78-B15D-3259BFE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corridas de rua ativas e não canceladas no calendário RunnerHub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DB0F7-E4E6-4363-B624-7E3193EF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CB14F-53CF-40D2-BDA7-5E158D6E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5544F-EBD2-46ED-9FB6-B164D2B1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do calendário cadastrado versus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6F7C2-B725-4DA4-9533-390E7328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93DF8-969F-4E40-8CF0-494EE19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5º NO PAÍS EM 2025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619500" y="2076450"/>
          <a:ext xmlns:a="http://schemas.openxmlformats.org/drawingml/2006/main" cx="7734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91e176d0f94602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4DB6B-31A8-402A-9B4E-7818073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81650"/>
            <a:ext cx="7734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B6073-93D2-49E8-B1C2-5BE98DC2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Até 10/09, 2026 já soma 399 provas no período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FDEE3-EC74-4B46-BA3E-F5A8AD04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+43,5% vs.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6ACB6-549B-494C-ADC2-2C3A941F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771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Base RunnerHub. Calendário cadastrado, não uma declaração de provas concluídas.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CA505-CDF3-4119-9855-A04EDCB4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c0ef95f76444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0B6B2-B44F-466E-B994-C9E00274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9955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83639-42A4-4B11-8614-F9E2081F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66527-25E0-4271-A753-CF92228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PRECISÃO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FCD1D-1F21-46E5-98F7-CB9870BB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7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O problema não é falta de números. É falta de contexto sobre o número.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32186-6B4E-4608-A56A-44572C9A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Duas fontes públicas e operacionais podem descrever o mesmo estado com universos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E40AD-CC23-45FB-8E24-848A1959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0EBE3-93AE-4C2E-B994-251B2AF7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F847D-5C4F-4DD3-B131-E18FC503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CD617-8C70-4414-B9CC-9A105B45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F5A7B-F2EF-49B4-B970-82F2813F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provas em SC em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BA964-8E5B-468E-B650-67F74901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+71%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790E4-5EF2-4325-BFE4-9FD7AD61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divulgado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4A7EB-5DB7-4ACC-AAE2-6F394CFA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 declaradas: CBAt, federações estaduais e DF. Sem microdados públicos acessíveis no material consultado.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0B059-D213-4438-9872-550C5FD6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66C8F-446A-40A6-8E38-8CF331B4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4BF60-3EAD-41B7-915A-29571545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9B1E0-9775-4504-93A9-4DF895C0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7CDAC-D749-487D-AA0F-4452381C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provas ativas e não canceladas em SC em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F3361-B4CE-4BA4-9DFD-C5441D8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F738F-B57F-4B10-BE2F-F4002D2C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crescimento do calendário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4CD35-DB95-45FB-8250-A9936156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Base operacional contínua do ecossistema RunnerHub. O indicador não mede o mesmo universo da ABRACEO.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F5F4C-3DB2-4462-A9A5-B0063773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9CA4BD-75A6-4D20-A262-7F91E95E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93653-2F3C-4907-87DE-CF769166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A"/>
          </a:solidFill>
          <a:ln xmlns:a="http://schemas.openxmlformats.org/drawingml/2006/main" w="9525">
            <a:solidFill>
              <a:srgbClr val="FFD7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9517A-0D76-4927-8775-C0F47334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57875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 NSC ganha um filtro técnico para não tratar cadastro parcial como o total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6D905-BA36-4F33-9960-E9C84521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Fontes: ABRACEO/Máquina do Esporte e base RunnerHub. Comparação de medidas, não cálculo de cobertura.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D0CD9-51B3-44F7-B9F6-019214EF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8dbc466bf4e76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2EB81-6923-451E-817A-D84B4300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9358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990b068cf4f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601E2-A5EB-45DC-AFA4-D31E3475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D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B9679-ACDC-459E-B022-55A95ADB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05357-3B33-42F0-80E8-A285B384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DIFERENCIAL RUNNERHUB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1E3B3-81E6-4C42-A327-4ACEE253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Dados que começam no resultado, não terminam no cadastro.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FB318-13E3-41B1-8F94-16439EC9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 resultado publicado confirma execução e abre a leitura de perfil, distância, tempo, território e recorrência.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FD313-4028-4293-94A4-E5C7AC26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DBFEA-7594-49AC-B9A5-2B0A3A6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826EE-E768-44C8-AF31-0D7222DA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87D6E-E9CE-4D3F-B67D-AA164C15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9,2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71BD0-5AE7-46EC-BE2C-F3277EDA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eventos mapeados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5104B-0542-4520-ACFB-9BA32151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4028B-0C19-4765-96CB-EF458BF6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2E5C0-AB55-41D2-9CAC-39378356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ED32A-70E0-4A18-841D-396CBC6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BDAF6-C440-42EC-A7C3-67C95461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84,1%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73AF7-195A-4DCE-81EE-23DBFAC8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dos eventos com base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analítica disponível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F2EDB-BDFF-40AC-BA43-C93E872D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F9A60-E50F-4DBB-8BAB-7FD5AF7B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36FCD-75B9-418B-A960-96EBB14B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368AC-2C27-4450-A771-A9F018A0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39CCC-C8AA-4CF3-BC09-45B9036C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5,3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9EA25-284E-437D-B1BD-0C7FB01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conclusões registradas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822B0-4415-483F-91D8-11985801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D29E3-1BB2-4BF5-9989-59CBCDDF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0AC4F9-EB82-41B7-A9AD-B0E009A8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5C3B1-4219-4FE3-A02B-FEA008D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50B35E-F2DA-4D75-A724-C1CD7B9D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 mi+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75C1FB-3C33-42B0-B1A0-BAD00B46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resultados no acervo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Open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B0672-19EB-4073-9157-068F9364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E0A6C-B246-409A-B6AE-83CB44C9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Registro diz que a prova foi informada. Resultado publicado mostra que ela aconteceu e revela o que veio depois.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B675B-113D-43D1-AF4F-2E41CBE6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rPr>
              <a:t>Fonte: Brasil que Corre — Provas 2025. ‘Conclusões’ não equivale a pessoas únicas.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08FABA-3BB0-4F3D-9CD9-C96B9CC5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649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41a005a2046ca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F739C6-C0B6-4CD4-AD88-9B016BDC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3324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E6471-7076-4F59-82E1-54ABD2E7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1BEFE-0ADC-44E3-9D5C-95C443EF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17483-A887-457C-B75C-F748FEC7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Quem corre oferece uma agenda editorial muito maior que prova e pódio.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0461E-291D-4A8A-8793-6F732B7E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base revela uma audiência ampla, acessível e recorrente para conteúdo de serviço e histórias locais.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851b2b1bfd4af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5B3EB-4697-4D68-B2DA-0113A034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52,9%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317BA-66F0-4276-AC40-A9C0AC6A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mulheres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820dace61949b3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0515D-37DA-4B7E-8367-8326A9EF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rPr>
              <a:t>59,1%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CD098-135B-4453-984D-3EA6FB5E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até 5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1DA3E-FC44-4F48-824E-D5B1FEF6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24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A643C-3086-4768-BA76-CDB3A844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50,5%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5EB23-2DBA-4B94-B7B2-C4DEE05A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Millennials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6A703-BD36-437F-81DF-4E177924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F6928-E440-4702-A709-9C8EDCD0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Q4 concentra 33,5%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F86B4-B7B5-415E-955F-D13DACF4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02448-6953-4DFF-8792-5186E748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Novembro chega a 13,4%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FF031-7992-4C2E-826D-81BA3A9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965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F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8D0BA-96B9-4675-8A11-8C9921FD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saúde, treinamento, calendário regional e histórias de iniciantes pode ampliar a audiência além dos atletas de elite.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C664A-96BF-431E-AA00-23EA5BD8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Fonte: Brasil que Corre — Provas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36EF8-BDDA-4841-8CE9-4C734154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385455db94e35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5877B-A0EA-4111-B219-E1823C82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6234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E45D0-EB2F-4395-8DF6-57F96930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74BC9-C272-4261-817F-AD1919BE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AE1AF-8033-40F7-8044-5AD804E8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Corre: uma plataforma anual, não uma cobertura eventual.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46D16-8F3A-4EFF-86B3-1F9BA7F0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mesmo guarda-chuva conecta utilidade, conteúdo, comunidade e experiência.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B07D2-BF22-4D99-B2C6-87DF515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051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0DE33-7037-4467-A23F-43868B57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D03F2-EC0D-4F25-AAE6-7D9FB93C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B31FC-0B1C-458A-BC19-A37DF280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CE642-E85D-4195-BAAA-17F058FE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826DE-6607-4DAE-B644-E054B294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E6367-2934-421F-9BF4-F0D78F66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UTILIDADE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EB15C-47DB-4B96-ACB4-027F87D6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confiável, mudanças, cancelamentos e guia de provas.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9DC20-D405-475F-A678-B48C0626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56296-F92D-433B-BD34-991DDF17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67CA4-0CFF-4B7B-9A4F-66358813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D9809-F017-4A6A-96FF-38F6CDC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Agenda, histórias locais, especialistas e dados que viram pauta.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9CE31-7B70-475E-BE28-6A19DDAB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73A01-AF19-48D1-94E5-A1C34CBE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F1231-98F4-44A9-9ECA-7077E381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9B91C-2116-4699-AEAB-3A29E531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Clubes, assessorias, desafios, ranking e conversa regional.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F75B2-76DF-4DF6-86A9-6AB029BC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627EB-E503-4FF4-AC70-DABC061A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D9538-0E47-4B4E-8F4F-4ED6463F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EXPERIÊNCIA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9CE4C-D46A-4B38-B480-109B26D4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ativações, eventos parceiros e cobertura ao vivo.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91F56-330F-4F26-AFAB-A1EF138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B1146-AB10-49F2-8EF7-BE0CA54A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D2866B-C9B2-4D6C-8D44-AC96FEA5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F02E0-579C-4426-91EC-E50F7B77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EDDA5C-0D98-4E4A-835B-3DA9A0AD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43575"/>
            <a:ext cx="81153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78D750-D0F2-444E-9B39-C70CF7E5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48350"/>
            <a:ext cx="769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8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8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RunnerHub estrutura o dado e a jornada. NSC transforma isso em alcance, narrativa e receita.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66059-D786-4373-B29C-1CDE889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d2edce1664a30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AB905-292E-4590-AB26-91976AEC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7095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FDA3F5-0400-4730-89F6-4E5856D8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1DD8F-AD43-4D44-A209-AA5C252D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CC95C-E1EB-4B33-BBBC-1EE7CFFF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relação de 365 dias entre intenção, preparação e conquista.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931FB-BB30-424B-B28A-7D34BA5D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 etapa da jornada gera serviço para o corredor e inventário para a NSC.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0C2BD-26ED-41B6-BFBD-8C777331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4EAAD-F06D-4315-A276-DCE17813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60125-8DC3-41D3-803C-39E9562F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381BF-6DF7-4A07-8305-D8C0651A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DESCOBRE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7B973-DF73-4858-97FC-C53474D0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59371-53BE-47F4-A899-060707E1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pauta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FA398-BC73-49E0-9DBD-7151D0E3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06CB4-5B87-46A7-AB99-7EFCACB1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4D33B-95BD-48FC-AD85-505E30A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ESCOLHE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DD6A2-21DB-4BD8-956D-16AD2B28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BA634-3CA0-4B60-9518-788E23CE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05E6E-C435-43C0-A600-BEF00FB6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1EE24-8DB0-4C36-9825-B51A62C9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E332F-FCE1-468D-AD20-FA862CE9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4D33F-4E44-4C76-BB3C-300AEB04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40DB7-E7AC-4560-9CEC-718DD1C6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B8C89-F614-4646-8AED-EACA730A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BA829-FCE5-4843-AB31-3849FB4B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A8545-63BF-492F-8DA3-27ABB3B6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84973-A5FA-4E8A-9595-D472B91F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6BA28-2B09-4264-9364-457EF919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1823A-4B2A-4876-8D1D-4C861553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C011B-40F8-45E1-9FD9-17728804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5F6F6-73F3-4E2A-9F36-6710F995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7B713-E059-4C27-B27C-D159A2BE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51EE44-A592-40BA-9518-618105ED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9EAE81-3267-48D0-94EF-9DCFE0F2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C86F82-F277-4C7E-9C84-7D44C080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8FA70-A026-4930-8760-B8E26C7D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COMPARTILHA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8D1935-C051-4C2E-9204-8A67B8F4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história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1BD34C-19DE-4F03-B1A6-88A8FD91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750D14-6C79-4A67-964B-15CD847F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F2A6F8-3FC1-4D9C-806A-AB229687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761FBE-336F-4B90-8A61-D2DAAF25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RECOMEÇA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FD9D56-7B74-402E-B521-6715E4EB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nova meta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DC5DCB-ABB5-4434-977B-23941B42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CRM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B1FEB1-D332-44C0-AA12-4DE75BE2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EF249F-4D1A-48AC-BCAF-E6766F8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B08F3A-B81A-41AA-8FE8-AB9B07BB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78F493-6CB9-4E73-8B0A-89B0B89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+ RUNNERHUB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B127AA-E7CA-4F47-B400-2CEDABE7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82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694A19-58C3-4FE8-9FCB-E9E79853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corrida deixa de ser evento pontual e vira hábito editorial, benefício recorrente e plataforma comercial.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457B6F-6D47-4C83-AECE-A35FCBF0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ee16b5f4942cd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98C853-436F-4A3A-B3A4-2CE06C0E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0278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E572E2-A351-411D-A653-2B15A7DC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995FF-39C0-48D0-9A13-3BA218A7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NOVO MOTOR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E7D13-EF72-48B1-9573-83243B29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 no Clube: benefício que transforma audiência em relação.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DA74A-CE60-4325-8D30-84EDCA08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Uma vertical esportiva dentro do Clube NSC pode conectar assinatura, economia, experiência e dados consentidos.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C06FE-F642-4C91-A44C-C1404D00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3524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83FB0-0860-4C97-B995-90C57A9E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1D2B4-ECBC-4E74-BA4E-1359060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31386-E384-43A5-828F-13106A3C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a2f482f0040b8">
            <a:extLst>
              <a:ext uri="{96DAC541-7B7A-43D3-8B79-37D633B846F1}">
                <asvg:svgBlip xmlns:asvg="http://schemas.microsoft.com/office/drawing/2016/SVG/main" r:embed="R9eb86a531ae049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9700" y="2943225"/>
            <a:ext cx="1066800" cy="1028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94860-A1D1-4EF3-AE22-9D2BD4BC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890AA-9A5A-4CF3-AE91-9335A81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benefício esportivo para assinantes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DF249-2A73-4332-B9AD-59815D0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C0E13-07E8-4652-8161-BC129069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EEDF3-098C-46C4-812F-06C5A429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CF5B8-C1E6-4D33-BED7-0D4C4C07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VAGA COM VANTAGEM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A7D2F-55B0-45DE-A924-0224A88D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Descontos, lotes antecipados e cotas limitadas em provas parceiras.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A341E-4D44-41D4-AE2B-65DEEA94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26BB4-4AD4-485F-AFD6-A114B243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601B4-50F2-4A98-8D7A-01D9704D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E15C8-6EFA-49E7-BDDF-0BF0ABD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PREPARE-SE MELHOR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85BB1-77AB-4D42-85AB-B85CC404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Academias, fisioterapia, laboratórios, nutrição e recuperação.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975BF-D84A-41EA-A20C-5FF12518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A6B1E-7888-41E4-80C6-843B0027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31906-E5DB-4729-9767-C820A3C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00801-08C6-4965-B37A-13FEE5D2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VIVA A PROVA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7FD9C-AC45-4521-A88F-8E13973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preview de percurso, retirada VIP e hospitalidade.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30CF0-4284-4908-B97C-38B3BF69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FF21D-10C1-4238-8A74-5628FE30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957AFD-A90C-48A6-8611-4CE85A17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F01B4F-A965-4987-8144-749DF7E5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CORRA E GANHE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A49746-6377-4C2C-B3A4-4424B6F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Desafios, recorrência e recompensas com consentimento do usuário.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0F886C-E099-4F04-AB0B-E35057C6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14650" cy="3524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8A8B7A-7861-4661-9B10-33CD27D0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A EQUAÇÃO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D5114C-78B1-487E-9D7A-58833EFE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945236-B91B-4F8B-8575-D584FE99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economia + acesso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3116F6-F1CD-42BE-96BB-EA5F8924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778896-536B-4BD6-9EB1-7E7F556D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961C59-094A-4596-A827-97DFF167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+ retenção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189420-979A-4A1E-B167-AAB6481D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10D24B-C82F-4AA4-80B5-3083D7D7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Marcas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8EDE9B-75DF-4B58-A6C7-2F59878D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conversão + contexto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B361A7-19BC-4BAB-853B-B931EED7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D9D394-DACC-47BA-A407-CAC41BBB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FD2BAE-6C07-4B5A-BFE9-CFE93F43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distribuição + medição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152BB2-55B3-40B9-A49E-5E23D314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24003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37ACA6-1F1B-425F-ACFA-5672751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Benefício gera dado de valor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649391-D9FB-4E36-B654-068B085E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Clube NSC declara 500+ parceiros em SC e benefícios de até 50%. Os itens acima são propostas sujeitas a negociação.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F75F00-E39D-4542-B2A3-975DA0F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7fc4eeab34a50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A816A1-D4B7-45E8-A5DD-48697E37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2834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5CC1E-651C-4FEC-B127-896BB19A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78F13-3B81-4017-B8AB-5425B0D3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D964C-1708-4A12-8A24-4402A1C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oferta que soma mídia, benefício, dados e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E4BB6-B7A2-427D-9EFB-BFEA62C9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patrocinador compra presença ao longo da jornada, com entregas e métricas que cabem no mesmo painel.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46CD2-2649-41C4-A435-9B74FFA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33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52360-D4CF-4B95-9956-DD403848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 PROPRIEDADE ALWAYS-ON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291C4-8DAD-4F8F-A1B1-7B4945FD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Naming, presença na home, agenda e quadros recorrentes.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384AF-BFC3-4C58-9CC7-7B0090A2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4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5819A-DCA2-4ADA-9F9C-D42BA321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  CONTEÚDO E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D9209-666B-4AC4-8AB4-E31AC5B4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Radar da semana, histórias, especialistas e dados da corrida.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24D97-ADC1-445D-A21C-D8466537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895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B9137-E38E-4B3A-A899-2EC06F81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447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 BENEFÍCIO NO CLUBE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C7AC5-6912-4AC1-88DA-29CFBB92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Vantagem do mês, cotas de vagas e experiências exclusivas.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AB4FB-7520-4B75-9058-209AC926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76750"/>
            <a:ext cx="5276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2A3F2-4159-4A79-95E5-55FFB9CB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485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  EXPERIÊNCIA E 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F045E-28F6-45DA-8C06-81D0C859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rPr>
              <a:t>Treinos, Corrida Verde, recovery lounge e cobertura ao vivo.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F3CFB-00EA-4C09-BAE6-60C8844D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8862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EEA7A-3001-422F-893D-C54C335C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DE 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70250-76EF-4C16-944D-5216F362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D8391-BC23-4D73-B477-2C1C8553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F2F6F-9EC5-4567-8405-3E017A6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pessoas expostas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04CED-4AC9-4D2E-9379-9460EF94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DBEBB-450B-4F99-9B79-2171F7C6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Consumo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7517D-2D41-43BB-AB89-35F297C1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tempo, vídeo e retorno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45001-E087-41F6-99E6-7E4E8006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1BBDD9-C257-4000-B78A-AC2A90E9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AAAFE-77F1-4E15-9BBF-499ED62A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90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resgates e economia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C430F-0CEC-4EAF-8E9B-3E1063AD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451F2-DE86-45B4-830B-96CCD6A9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Conversão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AE39E1-C140-428C-AA7B-4224F9B9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leads opt-in e inscrições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1C6F44-3637-4FD7-92A9-2EF769C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C59A0-F24D-42A6-9D39-803AD329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0313E9-7597-4F3B-9F18-91990C6F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52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e retenção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1C49F8-1B9F-478E-95F0-7C6F253A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8EEF87-D000-41A6-B726-A511051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Receita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DE1C3D-4E7E-468F-B4CA-41AC195A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patrocínio e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30CB49-2D0B-4AA9-9E75-1AEDC269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388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2CB43A-DF42-4E5D-B06A-0FA57E42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rPr>
              <a:t>LGPD: DADOS E SEGMENTAÇÃO SOMENTE COM CONSENTIMENTO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B16010-FDCB-4DE9-AE53-FAA8DB6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Categorias naturais: saúde, finanças, mobilidade, hidratação, nutrição, vestuário e turismo regional.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8D55E0-AB25-4761-A3A6-4BBDA0A8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b06bfc5aa44d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A2462D-058F-4CEC-9FA1-A4C2D055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55770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224E5A-9A08-4949-804F-8B251F19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40AC4-118C-4F45-A395-CE6236A3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390FB-49EF-4BC1-836D-F90F8F79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Piloto de 90 dias para provar valor antes de escalar.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3A3F8-0D9C-4C2F-B0F1-3D2E063D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ciclo curto cria o produto mínimo, ativa o Clube NSC e mede adesão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E23D7-7DEA-4C78-B1C0-C37CD6A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2DB67-2EEB-49D3-8A66-677B6B06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144EE-74D2-42C2-AE60-1BC1CB25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6FCD7-415C-4D2A-80FD-03081076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D3AC4-25F2-483E-BE24-6776EF84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CBCB9-F27A-4218-B65C-F43F16E5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04F1E-2B90-454C-966F-39FC329E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nome e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689BF-BD08-40A1-A828-A12020EE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DBD0A-7D67-4BC9-95EF-03046F44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65467-8929-4BD4-8C5C-7B1C3660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ritual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77A88-7C05-4143-A846-7584BCD6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3D7A3-4B3D-40C4-A6A6-0F01A2EB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69C6A-0180-49EC-8045-0D28ADFD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feed de calendário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5E09F-92C2-4158-8546-3E0B9F5E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7D386-951F-4DF9-B31A-96C7ACAC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9C0C6-363B-48D7-84EC-41A33FA8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 benefícios iniciais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F1C46-734A-4B6B-A9EE-47A12CB2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F998D-18FE-4522-9C3E-C0444C7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D00E1-735D-47FB-B226-93238E6A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2E9B9-A50E-4041-AB53-9F0B054D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31–60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AB3EA-5161-440C-9849-D63C99EE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ATIVAR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B3FA9-6F99-4AEE-81AF-108346C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0C9046-B788-4C50-830A-7CD19756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68D19-7BFE-4BB3-A287-EB20407A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lançamento ao público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37CE46-5DCC-4EB9-8365-5EDB6818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129650-4761-401A-BB37-DC530377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F6AC8-CE00-4904-8BC6-692DF257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agenda semanal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9AECE-0F77-452D-BECC-B2E09D3D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1D9A5F-F8D8-4195-81E9-A6499AB3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25A04E-6751-47B8-9E71-062D1376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primeiro treino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32991E-F972-4A0D-BA1B-F003D12A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079800-0AFE-49B3-BDA8-3E5CC776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FE1786-D116-41D2-9603-96753241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marcas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9E30D8-D5A0-4694-8968-83F24D14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C75E84-6B51-4FD6-BF08-D9E60531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06A910-B1E3-4C30-A434-0A6DCA12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3AEEE9-1638-4832-AA6D-4D6105F1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DIAS 61–90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7430CE-23F5-4E5C-857A-BF2D4B39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B86C49-5792-4F47-B58A-854B644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A58AEA-4A88-4815-A07D-BBED3E26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973BB5-226D-4E8C-987A-1026F013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evento âncora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782A9E-E961-48D0-AFCE-99327E64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80010A-0211-489D-9541-72E71477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E2EE35-2E5C-457B-8C24-333BA6E6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resultados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9A446C-7711-4256-B33B-C57A6F06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A28639-C0F5-4AC9-BFEB-9D0EE0E2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3C22B7-B9D5-45C9-9143-15FB94D8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dashboard do piloto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DABB82-EE22-45B9-8065-07AA61A8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4CFCE9-6B4A-46F2-8305-BC5B0E08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A7FCE5-755B-4439-B38F-73B98DC3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de escala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42CABB-1C07-4F3F-BFBC-678018C3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609600"/>
          </a:xfrm>
          <a:prstGeom xmlns:a="http://schemas.openxmlformats.org/drawingml/2006/main" prst="roundRect">
            <a:avLst>
              <a:gd name="adj" fmla="val 26563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60E9AF-FD5A-4F9C-935F-E0D78F3E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Métricas do piloto: audiência • cadastros opt-in • resgates • conversões • pipeline comercial • sinal de assinatura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D9C93B-3213-4A0C-9EC1-3913EFBA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c8bf5b5ce43f8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7FA154-D336-4DDB-87DD-65179B0B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0384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D46B0-3D2F-46C1-AC24-95A5D906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6A1C6-3367-4803-A266-EEA3DFA8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9334500" y="-666750"/>
            <a:ext cx="36195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88916-15E2-4BA5-A395-8484814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-666750" y="6096000"/>
            <a:ext cx="400050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ED539-A5B1-4A59-A9BD-23AAC152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78CA2-B703-4CFE-8D17-543E5D06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ECF5D-F511-41B6-8EA8-9F13CB00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decisão que pedimos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B8A15-9210-4A35-ADED-2844F006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Sair com um piloto patrocinado, donos claros e uma data de estreia.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1A42A-B3A1-44EC-AD96-B8069CCE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1D339-7DBD-4816-8653-B00A45D3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FC3EF-7445-4917-A6E0-70BEF517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0A35B-982F-4C55-98AB-7C839027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APROVAR O CO-DESENHO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CD8C1-027D-4D3C-A14B-DB60000F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Piloto de 90 dias sob a marca NSC Corre.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8CE8D-1E4B-4474-8581-84DE36E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04F1A-AB37-4029-8B6F-A7E5F10C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3DD93-0504-4617-A7D4-0EF327B5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212E8-FDED-47C7-9A1E-0F043CD4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NOMEAR OS DONOS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7BD5F-6422-4A09-A9B5-9942D575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Editorial, comercial, produto, Clube NSC e RunnerHub.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73D7B-3279-446C-BCD1-536E43CC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94544-05E9-4AA5-8E21-1ECF326E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B42D1-C2DE-44E5-ABF8-C2544B1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D6FC7-2C08-450C-ABAB-AB62F233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ESCOLHER A 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1345A-080D-4E95-BC18-85905481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Um evento e três benefícios para a primeira ativação.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61B8B-DC2A-45DE-9642-E3D6A89E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80D2D-0132-4C40-9A89-7C5EB775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Saída desejada: workshop agendado + responsáveis + data de lançamento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620c894e94b2d"/>
          <a:stretch xmlns:a="http://schemas.openxmlformats.org/drawingml/2006/main"/>
        </p:blipFill>
        <p:spPr>
          <a:xfrm xmlns:a="http://schemas.openxmlformats.org/drawingml/2006/main">
            <a:off x="685800" y="6294438"/>
            <a:ext cx="1504950" cy="2508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395F05-5BBA-4EF2-A795-45D9ED83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28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NSC CORRE</a:t>
            </a:r>
          </a:p>
        </p:txBody>
      </p:sp>
    </p:spTree>
    <p:extLst>
      <p:ext uri="{BB962C8B-B14F-4D97-AF65-F5344CB8AC3E}">
        <p14:creationId xmlns:p14="http://schemas.microsoft.com/office/powerpoint/2010/main" val="17324775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C6A5FC-9A91-4BA5-AB63-F48369D7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7D4CA-2307-4D70-8BBB-97FF8A89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FD396-8F64-45CB-A2C0-35008F9C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Nota metodológica: números diferentes não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649F8-369D-458C-B9D2-A243AD6E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Antes de comparar fontes, quatro perguntas precisam estar respondidas.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6C2A0-E031-42AD-84E6-2630AB58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512EC-89D3-458F-8DE7-FD8A699F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ADBC1-03AA-487A-B870-CF767150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394A7-2CD9-4C8C-B82A-47356693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UNIVERSO?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DC14E-C558-4529-82B9-B0B88E86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Permit, federação, cadastro próprio, evento mapeado ou prova com resultado publicado?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6FCF7-F3B2-4F93-9A5C-A73A10F2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592EA-7780-47E5-857C-885D3968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D04DA-F50C-4CE6-969B-5854EAAF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8F804-DA40-4E06-9C94-0A4074E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CORTE?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79DF5-C7BB-4415-B5AC-5164331C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completo, ano corrido ou posição até uma data específica?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3F485-BC9B-4DFA-84F9-DB1D62D9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CBA2F-CB0F-4AE0-BCEF-0BA84D36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D3AF4-F397-41DA-B321-0774392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911E9-9B0A-4751-AA0C-5B52B04E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HÁ CONFIRMAÇÃO?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CBEFD-8F98-4014-8845-A628D0EE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Cadastro informa intenção. Resultado, cobertura ou evidência operacional informa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A08CF-0DAF-4E21-A85E-BFFFC0B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7D784-3B18-4328-BF9E-795B14F8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C8922-BADC-4A7C-919F-99BAB8C8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F6E3F-FE35-499D-A9DE-488E7F3D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COMO DUPLICAÇÕES SÃO TRATADAS?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D5806-8F54-4384-B0CE-A6D79707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Sem microdados e chave de deduplicação, diferenças não viram taxa de cobertura.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62884-B203-415E-BB05-67BA50D8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2964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0B2A8-1CF8-4E9A-9C45-06A5F79A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Regra editorial: publicar fonte, definição, período e limitação junto do número.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BB4196-FB08-4E10-97B0-F4916E10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2aec0baa3484d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C0153A-1A41-40CB-BC97-922CD834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288880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61F86C-CAD8-42AF-9D5C-86DD5FE4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DFEBF-9F71-4F9B-ADFB-5B7580CE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7A33C-FBD9-4840-B1F1-1B6EDD74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Modelo de parceria para começar leve e preservar credibilidade.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53591-7F07-4CE6-A492-EDA2C1C8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Papéis claros evitam retrabalho editorial, comercial e de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7E9BF-82D7-40C7-A85C-BC77313A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F64CA-86F8-4ED9-BBB5-708C5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F128B-1906-424E-9DF1-E23475F8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1DEAA-0F2C-4FF0-B7A1-4FD7C188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CA666-CB66-4716-8D7B-B1FA119C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taxonomia e calendário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CC210-257C-4E60-8E1D-6C93D6EB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04821-6C84-479B-A54F-A1F81BCF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validação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4A1CD-586D-4F4F-9330-8CF07805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2CEA0-67D6-49BE-9E20-E5D55BC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resultados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60CE5-4A3C-4BFD-8F11-D5E3B44A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5D3F9-2946-499F-B189-0AA3B6C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do piloto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BDC05-5AAE-443D-86ED-9A013556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2EEAF-D8BB-4D93-9944-ABD2FD01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9EF31-C03B-44E2-859D-5DBE93AC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ED6DA-490F-4E38-B6F7-BC2BC1B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7E5E9-75C7-41B9-86A9-83FB7951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linha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2D28A-0F33-4B62-A9D0-079F8564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08A03-E431-4001-AF19-F725239C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distribuição multicanal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41358-E83E-4A9F-B9CC-D4926305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509F5-B9F3-4145-9495-20A8FBB9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venda e branded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189C7-AC0C-4D49-9ED8-A66335D8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07CB5-24FC-472B-8F11-1F2F50B1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produção e experiência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63F1F-352D-468C-B6AC-149C9F7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1F1AC7-8ECB-434D-B3C1-BBAA36CA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855B0F-0323-4EE9-8007-30D703A5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 CONJUNTO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83A099-842E-4C3E-9BC3-9101BC07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02A980-FF29-4E09-AD1C-0D61E15C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benefícios do Clube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2E2375-8D11-4810-93DB-379790B7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1B825-AC79-4E5B-A680-EC78546A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patrocinadores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21FF3D-C400-4AC7-8646-E1BFA69B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F53F90-8D13-45B8-AFB5-30599AB4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governança de marca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E84AFA-8157-4D92-B8DA-649F2D1A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7C9E24-C352-408C-BD8E-38DEE20C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e metas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2AE69B-A45E-42BD-8F89-BBC0E65F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16F509-6FFF-418B-AA30-43DB167C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PROTEÇÕES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C1A23E-E7C7-4EE9-ABE6-9A4D47E1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24475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 visível • protocolo de correção • consentimento LGPD • aprovação de marcas • direitos sobre eventos e imagens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AA27DC-98AA-468D-88E7-E85EB63B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91200"/>
            <a:ext cx="7886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E12D66-2259-4EA7-9A3F-FC32F41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Credibilidade é parte do produto, não apenas uma etapa de revisão.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A9F432-9FA8-454A-B68B-B8FCD1CD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fb2777a194963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E0CD9B-446B-4317-BACE-BC6EE179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637187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18DE1B-4DE7-417C-A8EA-4F2572E8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098D9-B1AF-49AA-9505-81A1B128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E5221-0834-4010-AF2E-86F48246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Fontes e limites desta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B1726-4B0C-472E-AEF6-75F2D65B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Dados externos e materiais fornecidos foram mantidos separados das recomendações de parceria.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D8BF3-548C-48B4-9E5F-20356422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3FE8A-E718-4C06-B575-0382300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0426A-0632-4F1B-92E3-FE08DFED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MATERIAIS 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D80E7-D8FB-4F20-8DF9-920609C9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Brasil que Corre — Provas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61BAF-6AA2-433E-A3F5-A43098DF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PDF fornecido pelo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040BF-EFA1-4B93-A22F-C60C9C54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BD7DE-24C9-4AC1-B399-D937B5F8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Base oficial SC 2024–2026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090CF-8207-4CE1-BDC6-6A763216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números fornecidos pelo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F9423-C6B1-49E6-AA14-623F5CB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5B46C-6333-4169-ACC0-1EA82AD1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Mapear parceria RunnerHub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105C4-1061-41B1-A6B8-E54EBA6F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briefing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8EC61-B633-42CC-8726-B200D1A8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71917-1AF0-41FB-BBD6-CFF431BC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Apresentação anterior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AC262-E13F-4F36-8476-2D53816C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referência crítica, não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E3DEA-6DCB-4D45-A90A-FF740008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3D2F0-9DED-420E-911F-CA6FFE5C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4D8A9-A5CA-444A-9488-1A049E43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 PÚBLICAS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42A54-066E-4345-B05A-771B5040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E2177-AF0D-4125-83A3-11F3B4A0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levantamento divulgado em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56A83-1DE6-4C17-B4F3-72BBDC52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66DC0-6230-4352-9B9E-35A548AD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Máquina do Esporte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E8A0F-FF4C-45E0-B402-FB396CF5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3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matéria sobre crescimento em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B926A-B00C-4CB8-BA13-0A30F8E3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4464B9-9EA5-4BEE-ABFB-97A99FCC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TV e NSC Esporte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DD43B-18A6-4480-8A9A-D6995330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alcance e iniciativas esportivas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56F662-3E67-41E0-85B2-CD916538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D481F-7DE5-4D3C-9942-CBE3115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Clube NSC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AC25CC-3AFA-471E-A778-E9F324EF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benefícios e presença em 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EA71D2-8BFF-4C99-A93D-EA54EF60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02489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A35FD1-8BE1-4552-83B2-8CCBA27E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Limite central: 478 e 559 são medidas de universos distintos. A proposta usa a diferença para defender contexto metodológico, não para acusar erro ou calcular cobertura.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E1F00B-7509-4190-92E0-385E7877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fc6fbd63d47e6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F8121B-9F9E-4AED-BCF3-6729512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81851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2026-09-10T15:32:27.7390000Z</dcterms:created>
  <dcterms:modified xsi:type="dcterms:W3CDTF">2026-09-10T15:32:27.7390000Z</dcterms:modified>
</coreProperties>
</file>