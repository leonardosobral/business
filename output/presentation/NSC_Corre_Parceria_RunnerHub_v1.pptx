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d658461dbb48f6" /><Relationship Type="http://schemas.openxmlformats.org/officeDocument/2006/relationships/extended-properties" Target="/docProps/app.xml" Id="R5b67396cf53447a8" /><Relationship Type="http://schemas.openxmlformats.org/officeDocument/2006/relationships/officeDocument" Target="/ppt/presentation.xml" Id="R2941b38d04d843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69bb3910dc47c4"/>
  </p:sldMasterIdLst>
  <p:notesMasterIdLst>
    <p:notesMasterId xmlns:r="http://schemas.openxmlformats.org/officeDocument/2006/relationships" r:id="R59b89ad499c14ea6"/>
  </p:notesMasterIdLst>
  <p:sldIdLst>
    <p:sldId xmlns:r="http://schemas.openxmlformats.org/officeDocument/2006/relationships" id="256" r:id="R40bd57163e514385"/>
    <p:sldId xmlns:r="http://schemas.openxmlformats.org/officeDocument/2006/relationships" id="257" r:id="Ree039140b76244b9"/>
    <p:sldId xmlns:r="http://schemas.openxmlformats.org/officeDocument/2006/relationships" id="258" r:id="Rdef60ce56c0a4299"/>
    <p:sldId xmlns:r="http://schemas.openxmlformats.org/officeDocument/2006/relationships" id="259" r:id="R095a402bb0fa41c8"/>
    <p:sldId xmlns:r="http://schemas.openxmlformats.org/officeDocument/2006/relationships" id="260" r:id="Rfdaa52fb1f0445cf"/>
    <p:sldId xmlns:r="http://schemas.openxmlformats.org/officeDocument/2006/relationships" id="261" r:id="Rabca387fc98f43d3"/>
    <p:sldId xmlns:r="http://schemas.openxmlformats.org/officeDocument/2006/relationships" id="262" r:id="R62afb764fbc64798"/>
    <p:sldId xmlns:r="http://schemas.openxmlformats.org/officeDocument/2006/relationships" id="263" r:id="Re1b39783f3704b26"/>
    <p:sldId xmlns:r="http://schemas.openxmlformats.org/officeDocument/2006/relationships" id="264" r:id="Rd348d36e5d574a25"/>
    <p:sldId xmlns:r="http://schemas.openxmlformats.org/officeDocument/2006/relationships" id="265" r:id="R400abe9969374888"/>
    <p:sldId xmlns:r="http://schemas.openxmlformats.org/officeDocument/2006/relationships" id="266" r:id="R6405bed579ea45f2"/>
    <p:sldId xmlns:r="http://schemas.openxmlformats.org/officeDocument/2006/relationships" id="267" r:id="R095bb9df017a4c1a"/>
    <p:sldId xmlns:r="http://schemas.openxmlformats.org/officeDocument/2006/relationships" id="268" r:id="Rf2e1df95e04e4351"/>
    <p:sldId xmlns:r="http://schemas.openxmlformats.org/officeDocument/2006/relationships" id="269" r:id="R76433b7c44f04c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2bb9ff7c504e60" /><Relationship Type="http://schemas.openxmlformats.org/officeDocument/2006/relationships/slideMaster" Target="/ppt/slideMasters/slideMaster1.xml" Id="Rd269bb3910dc47c4" /><Relationship Type="http://schemas.openxmlformats.org/officeDocument/2006/relationships/notesMaster" Target="/ppt/notesMasters/notesMaster1.xml" Id="R59b89ad499c14ea6" /><Relationship Type="http://schemas.openxmlformats.org/officeDocument/2006/relationships/presProps" Target="/ppt/presProps.xml" Id="R1ee3229ae2274a79" /><Relationship Type="http://schemas.openxmlformats.org/officeDocument/2006/relationships/tableStyles" Target="/ppt/tableStyles.xml" Id="R5dc595913f9f445c" /><Relationship Type="http://schemas.openxmlformats.org/officeDocument/2006/relationships/slide" Target="/ppt/slides/slide1.xml" Id="R40bd57163e514385" /><Relationship Type="http://schemas.openxmlformats.org/officeDocument/2006/relationships/slide" Target="/ppt/slides/slide2.xml" Id="Ree039140b76244b9" /><Relationship Type="http://schemas.openxmlformats.org/officeDocument/2006/relationships/slide" Target="/ppt/slides/slide3.xml" Id="Rdef60ce56c0a4299" /><Relationship Type="http://schemas.openxmlformats.org/officeDocument/2006/relationships/slide" Target="/ppt/slides/slide4.xml" Id="R095a402bb0fa41c8" /><Relationship Type="http://schemas.openxmlformats.org/officeDocument/2006/relationships/slide" Target="/ppt/slides/slide5.xml" Id="Rfdaa52fb1f0445cf" /><Relationship Type="http://schemas.openxmlformats.org/officeDocument/2006/relationships/slide" Target="/ppt/slides/slide6.xml" Id="Rabca387fc98f43d3" /><Relationship Type="http://schemas.openxmlformats.org/officeDocument/2006/relationships/slide" Target="/ppt/slides/slide7.xml" Id="R62afb764fbc64798" /><Relationship Type="http://schemas.openxmlformats.org/officeDocument/2006/relationships/slide" Target="/ppt/slides/slide8.xml" Id="Re1b39783f3704b26" /><Relationship Type="http://schemas.openxmlformats.org/officeDocument/2006/relationships/slide" Target="/ppt/slides/slide9.xml" Id="Rd348d36e5d574a25" /><Relationship Type="http://schemas.openxmlformats.org/officeDocument/2006/relationships/slide" Target="/ppt/slides/slide10.xml" Id="R400abe9969374888" /><Relationship Type="http://schemas.openxmlformats.org/officeDocument/2006/relationships/slide" Target="/ppt/slides/slide11.xml" Id="R6405bed579ea45f2" /><Relationship Type="http://schemas.openxmlformats.org/officeDocument/2006/relationships/slide" Target="/ppt/slides/slide12.xml" Id="R095bb9df017a4c1a" /><Relationship Type="http://schemas.openxmlformats.org/officeDocument/2006/relationships/slide" Target="/ppt/slides/slide13.xml" Id="Rf2e1df95e04e4351" /><Relationship Type="http://schemas.openxmlformats.org/officeDocument/2006/relationships/slide" Target="/ppt/slides/slide14.xml" Id="R76433b7c44f04c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6bd53b9edc4a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4bc23190c3495c" /><Relationship Type="http://schemas.openxmlformats.org/officeDocument/2006/relationships/notesMaster" Target="/ppt/notesMasters/notesMaster1.xml" Id="R4b1d5c026fe14e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bb3f16a69e4c7f" /><Relationship Type="http://schemas.openxmlformats.org/officeDocument/2006/relationships/notesMaster" Target="/ppt/notesMasters/notesMaster1.xml" Id="Refb65d2285eb47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4c5d005dfe4803" /><Relationship Type="http://schemas.openxmlformats.org/officeDocument/2006/relationships/notesMaster" Target="/ppt/notesMasters/notesMaster1.xml" Id="R221ab965138c46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6891b3198e4f67" /><Relationship Type="http://schemas.openxmlformats.org/officeDocument/2006/relationships/notesMaster" Target="/ppt/notesMasters/notesMaster1.xml" Id="Rc144d780793645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1b42de61a24040" /><Relationship Type="http://schemas.openxmlformats.org/officeDocument/2006/relationships/notesMaster" Target="/ppt/notesMasters/notesMaster1.xml" Id="Rc4d8b300554b45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3c25129d0b4b0c" /><Relationship Type="http://schemas.openxmlformats.org/officeDocument/2006/relationships/notesMaster" Target="/ppt/notesMasters/notesMaster1.xml" Id="R4dfd4841347e4f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adf8973e3440c5" /><Relationship Type="http://schemas.openxmlformats.org/officeDocument/2006/relationships/notesMaster" Target="/ppt/notesMasters/notesMaster1.xml" Id="Rbc4accfb3ca842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8c380f6229459b" /><Relationship Type="http://schemas.openxmlformats.org/officeDocument/2006/relationships/notesMaster" Target="/ppt/notesMasters/notesMaster1.xml" Id="R49b3556849384e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deeaeb09c54482" /><Relationship Type="http://schemas.openxmlformats.org/officeDocument/2006/relationships/notesMaster" Target="/ppt/notesMasters/notesMaster1.xml" Id="Rcdd9e94ba32041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2f39bfb24545e5" /><Relationship Type="http://schemas.openxmlformats.org/officeDocument/2006/relationships/notesMaster" Target="/ppt/notesMasters/notesMaster1.xml" Id="Re212561c69604e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1eb5d28e7d40a2" /><Relationship Type="http://schemas.openxmlformats.org/officeDocument/2006/relationships/notesMaster" Target="/ppt/notesMasters/notesMaster1.xml" Id="Rfcbfb654c8c54db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cbc680c8124e77" /><Relationship Type="http://schemas.openxmlformats.org/officeDocument/2006/relationships/notesMaster" Target="/ppt/notesMasters/notesMaster1.xml" Id="Rc109781220064a0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25a219113254847" /><Relationship Type="http://schemas.openxmlformats.org/officeDocument/2006/relationships/notesMaster" Target="/ppt/notesMasters/notesMaster1.xml" Id="R4a35d2057ba442c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56f9608d8ab4ebf" /><Relationship Type="http://schemas.openxmlformats.org/officeDocument/2006/relationships/notesMaster" Target="/ppt/notesMasters/notesMaster1.xml" Id="R2509c63ae14d46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Objetivo: propor uma plataforma anual para posicionar a NSC como referência catarinense em corrida e a RunnerHub como sua camada de inteligência e dados.</a:t>
            </a:r>
          </a:p>
          <a:p xmlns:a="http://schemas.openxmlformats.org/drawingml/2006/main">
            <a:r>
              <a:t>Imagem: ativo institucional RunnerHub, assets/rr_fundo_horiz.jpg.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base oficial RunnerHub fornecida pelo usuário. Corte em 10/09/2026.</a:t>
            </a:r>
          </a:p>
          <a:p xmlns:a="http://schemas.openxmlformats.org/drawingml/2006/main">
            <a:r>
              <a:t>Dados: calendário cadastrado SC — 2024: 405; 2025: 559; 2026: 596. Até 10/09 — 2024: 226; 2025: 278; 2026: 399.</a:t>
            </a:r>
          </a:p>
          <a:p xmlns:a="http://schemas.openxmlformats.org/drawingml/2006/main">
            <a:r>
              <a:t>Crescimentos: 2025 vs 2024 = 38,0%; 2026 vs 2025 = 6,6%; período até 10/09: 2025 vs 2024 = 23,0%; 2026 vs 2025 = 43,5%.</a:t>
            </a:r>
          </a:p>
          <a:p xmlns:a="http://schemas.openxmlformats.org/drawingml/2006/main">
            <a:r>
              <a:t>Posição nacional: 6º em 2024; 5º em 2025 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externas:</a:t>
            </a:r>
          </a:p>
          <a:p xmlns:a="http://schemas.openxmlformats.org/drawingml/2006/main">
            <a:r>
              <a:t>https://maquinadoesporte.com.br/running/corridas-de-rua-crescem-85-no-brasil-em-2025/</a:t>
            </a:r>
          </a:p>
          <a:p xmlns:a="http://schemas.openxmlformats.org/drawingml/2006/main">
            <a:r>
              <a:t>https://abraceo.com.br/4o-summit-abraceo-cbat-corridas-de-rua-cresceram-85-em-2025-no-brasil/</a:t>
            </a:r>
          </a:p>
          <a:p xmlns:a="http://schemas.openxmlformats.org/drawingml/2006/main">
            <a:r>
              <a:t>Fonte RunnerHub: base oficial fornecida pelo usuário.</a:t>
            </a:r>
          </a:p>
          <a:p xmlns:a="http://schemas.openxmlformats.org/drawingml/2006/main">
            <a:r>
              <a:t>Nota metodológica: não calcular cobertura, subnotificação ou erro de uma fonte pela diferença entre 478 e 559. Os universos e critérios de inclusão não são publicamente equivalentes. O argumento seguro é exigir fonte, critério, corte e cobertura em qualquer pauta.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/Users/leonardosobral/Downloads/BrasilQueCorreProvas2025_v3.10.3 (1).pdf, páginas 2–3.</a:t>
            </a:r>
          </a:p>
          <a:p xmlns:a="http://schemas.openxmlformats.org/drawingml/2006/main">
            <a:r>
              <a:t>O estudo reporta 9,2 mil eventos mapeados, 5,3 milhões de concluintes e cobertura analítica de 84,1% dos eventos mapeados. Os demais 15,9% incluem provas sem resultado publicado, sem confirmação de execução, não cronometradas ou não competitivas.</a:t>
            </a:r>
          </a:p>
          <a:p xmlns:a="http://schemas.openxmlformats.org/drawingml/2006/main">
            <a:r>
              <a:t>O acervo Open Results contém mais de 11 milhões de resultados republicados, conforme o estudo.</a:t>
            </a:r>
          </a:p>
          <a:p xmlns:a="http://schemas.openxmlformats.org/drawingml/2006/main">
            <a:r>
              <a:t>Usar ‘conclusões registradas’ ou ‘resultados’, nunca ‘corredores únicos’.</a:t>
            </a:r>
          </a:p>
          <a:p xmlns:a="http://schemas.openxmlformats.org/drawingml/2006/main">
            <a:r>
              <a:t>Imagem: ativo institucional RunnerHub, assets/rbi_fundo_horizontal.jpg.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/Users/leonardosobral/Downloads/BrasilQueCorreProvas2025_v3.10.3 (1).pdf, páginas 3, 5, 11 e 12.</a:t>
            </a:r>
          </a:p>
          <a:p xmlns:a="http://schemas.openxmlformats.org/drawingml/2006/main">
            <a:r>
              <a:t>Dados: 52,9% mulheres; 47,1% homens; 59,1% dos resultados em distâncias de até 5 km; Millennials 50,5%; quarto trimestre 33,5%; novembro 13,4%.</a:t>
            </a:r>
          </a:p>
          <a:p xmlns:a="http://schemas.openxmlformats.org/drawingml/2006/main">
            <a:r>
              <a:t>A frase sobre oportunidade editorial é uma inferência estratégica da RunnerHub baseada no perfil, recorrência e sazonalidade observados.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conceitual RunnerHub. Os quatro pilares são componentes a co-desenhar com a NSC.</a:t>
            </a:r>
          </a:p>
          <a:p xmlns:a="http://schemas.openxmlformats.org/drawingml/2006/main">
            <a:r>
              <a:t>Evidências de capacidade NSC: TV, rádio, digital, imprensa e experiências presenciais integradas.</a:t>
            </a:r>
          </a:p>
          <a:p xmlns:a="http://schemas.openxmlformats.org/drawingml/2006/main">
            <a:r>
              <a:t>Fontes: https://nsc.com.br/marcas-nsc/nsc-tv/ e https://nsc.com.br/quem-somos/.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conceitual RunnerHub. A etapa ‘inscrição’ foi deliberadamente descrita como escolha/comparação, pois a RunnerHub pode direcionar o atleta sem afirmar que processa toda inscrição.</a:t>
            </a:r>
          </a:p>
          <a:p xmlns:a="http://schemas.openxmlformats.org/drawingml/2006/main">
            <a:r>
              <a:t>CRM e segmentação devem operar somente com consentimento e governança LGPD.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oficial Clube NSC: https://clubensc.com.br/sobre-o-clube/ e https://clubensc.com.br/.</a:t>
            </a:r>
          </a:p>
          <a:p xmlns:a="http://schemas.openxmlformats.org/drawingml/2006/main">
            <a:r>
              <a:t>O Clube NSC é apresentado como programa de benefícios exclusivo para assinantes NSC Total, com mais de 500 parceiros em Santa Catarina, descontos de até 50%, eventos e promoções exclusivas.</a:t>
            </a:r>
          </a:p>
          <a:p xmlns:a="http://schemas.openxmlformats.org/drawingml/2006/main">
            <a:r>
              <a:t>Todos os benefícios listados neste slide são propostas. Dependem de negociação comercial, disponibilidade, integração técnica e consentimento do usuário quando houver dados pessoais ou ranking.</a:t>
            </a:r>
          </a:p>
          <a:p xmlns:a="http://schemas.openxmlformats.org/drawingml/2006/main">
            <a:r>
              <a:t>Logo Clube NSC obtido do site oficial para uso nesta proposta interna.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comercial RunnerHub. Inventário, métricas e categorias são hipóteses para desenho conjunto com editorial, comercial, produto e Clube NSC.</a:t>
            </a:r>
          </a:p>
          <a:p xmlns:a="http://schemas.openxmlformats.org/drawingml/2006/main">
            <a:r>
              <a:t>Qualquer uso de dados pessoais, segmentação, ranking, CRM ou compartilhamento com patrocinadores deve respeitar consentimento, finalidade e governança LGPD.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operacional RunnerHub. Metas quantitativas devem ser definidas depois da linha de base dos canais NSC, do Clube NSC e do inventário de parceiros.</a:t>
            </a:r>
          </a:p>
          <a:p xmlns:a="http://schemas.openxmlformats.org/drawingml/2006/main">
            <a:r>
              <a:t>Sugestão: usar um evento âncora já relacionado à NSC ou uma prova parceira com acesso operacional aos dados e direitos de cobertura.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Fechamento sugerido: solicitar um workshop de 90 minutos com líderes de editorial, comercial, produto e Clube NSC para fechar o escopo do piloto.</a:t>
            </a:r>
          </a:p>
          <a:p xmlns:a="http://schemas.openxmlformats.org/drawingml/2006/main">
            <a:r>
              <a:t>A proposta não depende de criar uma nova corrida imediatamente. Pode começar sobre um evento existente ou parceiro.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artigo Máquina do Esporte, publicação ABRACEO e base oficial RunnerHub.</a:t>
            </a:r>
          </a:p>
          <a:p xmlns:a="http://schemas.openxmlformats.org/drawingml/2006/main">
            <a:r>
              <a:t>https://maquinadoesporte.com.br/running/corridas-de-rua-crescem-85-no-brasil-em-2025/</a:t>
            </a:r>
          </a:p>
          <a:p xmlns:a="http://schemas.openxmlformats.org/drawingml/2006/main">
            <a:r>
              <a:t>https://abraceo.com.br/4o-summit-abraceo-cbat-corridas-de-rua-cresceram-85-em-2025-no-brasil/</a:t>
            </a:r>
          </a:p>
          <a:p xmlns:a="http://schemas.openxmlformats.org/drawingml/2006/main">
            <a:r>
              <a:t>Não afirmar que uma fonte ‘espera passivamente’ informação de afiliados sem documentação pública. O ponto demonstrável é que universos e critérios diferem e precisam ser explicitados.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de governança RunnerHub. Ajustar responsabilidades no workshop de co-desenho.</a:t>
            </a:r>
          </a:p>
          <a:p xmlns:a="http://schemas.openxmlformats.org/drawingml/2006/main">
            <a:r>
              <a:t>Confirmar direitos de uso de marcas, eventos, imagens, resultados e bases antes do lançamento público.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Materiais locais:</a:t>
            </a:r>
          </a:p>
          <a:p xmlns:a="http://schemas.openxmlformats.org/drawingml/2006/main">
            <a:r>
              <a:t>/Users/leonardosobral/Downloads/BrasilQueCorreProvas2025_v3.10.3 (1).pdf</a:t>
            </a:r>
          </a:p>
          <a:p xmlns:a="http://schemas.openxmlformats.org/drawingml/2006/main">
            <a:r>
              <a:t>/Users/leonardosobral/Downloads/Mapear parceria RunnerHub NSC.pdf</a:t>
            </a:r>
          </a:p>
          <a:p xmlns:a="http://schemas.openxmlformats.org/drawingml/2006/main">
            <a:r>
              <a:t>/Users/leonardosobral/Downloads/Apresentacao_Parceria_RunnerHub_NSC.pptx.pdf</a:t>
            </a:r>
          </a:p>
          <a:p xmlns:a="http://schemas.openxmlformats.org/drawingml/2006/main">
            <a:r>
              <a:t>Fontes públicas:</a:t>
            </a:r>
          </a:p>
          <a:p xmlns:a="http://schemas.openxmlformats.org/drawingml/2006/main">
            <a:r>
              <a:t>https://maquinadoesporte.com.br/running/corridas-de-rua-crescem-85-no-brasil-em-2025/</a:t>
            </a:r>
          </a:p>
          <a:p xmlns:a="http://schemas.openxmlformats.org/drawingml/2006/main">
            <a:r>
              <a:t>https://abraceo.com.br/4o-summit-abraceo-cbat-corridas-de-rua-cresceram-85-em-2025-no-brasil/</a:t>
            </a:r>
          </a:p>
          <a:p xmlns:a="http://schemas.openxmlformats.org/drawingml/2006/main">
            <a:r>
              <a:t>https://nsc.com.br/marcas-nsc/nsc-tv/</a:t>
            </a:r>
          </a:p>
          <a:p xmlns:a="http://schemas.openxmlformats.org/drawingml/2006/main">
            <a:r>
              <a:t>https://nsc.com.br/imprensa/nsc-esporte-amplia-presenca-digital-com-novos-canais-de-conteudo-esportivo/</a:t>
            </a:r>
          </a:p>
          <a:p xmlns:a="http://schemas.openxmlformats.org/drawingml/2006/main">
            <a:r>
              <a:t>https://nsc.com.br/imprensa/corrida-verde-chega-a-joinville-com-experiencia-completa-para-toda-a-familia/</a:t>
            </a:r>
          </a:p>
          <a:p xmlns:a="http://schemas.openxmlformats.org/drawingml/2006/main">
            <a:r>
              <a:t>https://nsc.com.br/imprensa/nsc-esporte-amplia-cobertura-e-participacao-na-24a-edicao-do-ironman/</a:t>
            </a:r>
          </a:p>
          <a:p xmlns:a="http://schemas.openxmlformats.org/drawingml/2006/main">
            <a:r>
              <a:t>https://clubensc.com.br/</a:t>
            </a:r>
          </a:p>
          <a:p xmlns:a="http://schemas.openxmlformats.org/drawingml/2006/main">
            <a:r>
              <a:t>https://clubensc.com.br/sobre-o-clube/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8cc0520ff140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ec75d1c61f4e8e" /><Relationship Type="http://schemas.openxmlformats.org/officeDocument/2006/relationships/slideLayout" Target="/ppt/slideLayouts/slideLayout1.xml" Id="R4ed38f997cdc41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d38f997cdc41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741ce2ac44fb8" /><Relationship Type="http://schemas.openxmlformats.org/officeDocument/2006/relationships/image" Target="/ppt/media/image.jpeg" Id="R865b8ea5c19c4e45" /><Relationship Type="http://schemas.openxmlformats.org/officeDocument/2006/relationships/image" Target="/ppt/media/image.png" Id="R29216d1b0ea54e7c" /><Relationship Type="http://schemas.openxmlformats.org/officeDocument/2006/relationships/image" Target="/ppt/media/image2.png" Id="R88602647346d498c" /><Relationship Type="http://schemas.openxmlformats.org/officeDocument/2006/relationships/notesSlide" Target="/ppt/notesSlides/notesSlide1.xml" Id="Rf6b3a299696b44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568df1f564deb" /><Relationship Type="http://schemas.openxmlformats.org/officeDocument/2006/relationships/chart" Target="/ppt/slides/charts/chart1.xml" Id="R5bd4402b79bf4802" /><Relationship Type="http://schemas.openxmlformats.org/officeDocument/2006/relationships/image" Target="/ppt/media/image3.png" Id="Rf261e94bd96645a9" /><Relationship Type="http://schemas.openxmlformats.org/officeDocument/2006/relationships/notesSlide" Target="/ppt/notesSlides/notesSlide2.xml" Id="Rf1c8e18b193446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a9b2c874d4f68" /><Relationship Type="http://schemas.openxmlformats.org/officeDocument/2006/relationships/image" Target="/ppt/media/image4.png" Id="R7df7495252ab4976" /><Relationship Type="http://schemas.openxmlformats.org/officeDocument/2006/relationships/notesSlide" Target="/ppt/notesSlides/notesSlide3.xml" Id="Re7349b1d3bff4e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44717f72c4348" /><Relationship Type="http://schemas.openxmlformats.org/officeDocument/2006/relationships/image" Target="/ppt/media/image2.jpeg" Id="R2d226c401e7d48f1" /><Relationship Type="http://schemas.openxmlformats.org/officeDocument/2006/relationships/image" Target="/ppt/media/image5.png" Id="R16196617200248a4" /><Relationship Type="http://schemas.openxmlformats.org/officeDocument/2006/relationships/notesSlide" Target="/ppt/notesSlides/notesSlide4.xml" Id="R1c6604249bd549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662166bcf4033" /><Relationship Type="http://schemas.openxmlformats.org/officeDocument/2006/relationships/chart" Target="/ppt/slides/charts/chart2.xml" Id="Rcc891a99202b4e62" /><Relationship Type="http://schemas.openxmlformats.org/officeDocument/2006/relationships/chart" Target="/ppt/slides/charts/chart3.xml" Id="R9179cd2953014157" /><Relationship Type="http://schemas.openxmlformats.org/officeDocument/2006/relationships/image" Target="/ppt/media/image6.png" Id="R9d07a4df26944c0b" /><Relationship Type="http://schemas.openxmlformats.org/officeDocument/2006/relationships/notesSlide" Target="/ppt/notesSlides/notesSlide5.xml" Id="R51ae71eaa8ab4b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71f407d7b4302" /><Relationship Type="http://schemas.openxmlformats.org/officeDocument/2006/relationships/image" Target="/ppt/media/image7.png" Id="R8d847a46954b481f" /><Relationship Type="http://schemas.openxmlformats.org/officeDocument/2006/relationships/notesSlide" Target="/ppt/notesSlides/notesSlide6.xml" Id="Rfb8b3da31b5e47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1afa247fa4855" /><Relationship Type="http://schemas.openxmlformats.org/officeDocument/2006/relationships/image" Target="/ppt/media/image8.png" Id="R16389e290ec249b7" /><Relationship Type="http://schemas.openxmlformats.org/officeDocument/2006/relationships/notesSlide" Target="/ppt/notesSlides/notesSlide7.xml" Id="Rdf30b089f48a4b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30ddc48554eb8" /><Relationship Type="http://schemas.openxmlformats.org/officeDocument/2006/relationships/image" Target="/ppt/media/image9.png" Id="R17f90ed97c164665" /><Relationship Type="http://schemas.openxmlformats.org/officeDocument/2006/relationships/image" Target="/ppt/media/image.svg" Id="R3c752f14e7a241af" /><Relationship Type="http://schemas.openxmlformats.org/officeDocument/2006/relationships/image" Target="/ppt/media/image10.png" Id="Rce6b6dc137a24048" /><Relationship Type="http://schemas.openxmlformats.org/officeDocument/2006/relationships/notesSlide" Target="/ppt/notesSlides/notesSlide8.xml" Id="Rb50c38a188b043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5efb51d804456" /><Relationship Type="http://schemas.openxmlformats.org/officeDocument/2006/relationships/image" Target="/ppt/media/image11.png" Id="R96e12b1da35442d9" /><Relationship Type="http://schemas.openxmlformats.org/officeDocument/2006/relationships/notesSlide" Target="/ppt/notesSlides/notesSlide9.xml" Id="R2a39aa8455b34f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7f5923c8842ad" /><Relationship Type="http://schemas.openxmlformats.org/officeDocument/2006/relationships/image" Target="/ppt/media/image12.png" Id="Rf388d261b1a24017" /><Relationship Type="http://schemas.openxmlformats.org/officeDocument/2006/relationships/notesSlide" Target="/ppt/notesSlides/notesSlide10.xml" Id="R6b180d02192e47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4ff62a33b46ac" /><Relationship Type="http://schemas.openxmlformats.org/officeDocument/2006/relationships/image" Target="/ppt/media/image13.png" Id="Rcda02bb0df894fef" /><Relationship Type="http://schemas.openxmlformats.org/officeDocument/2006/relationships/notesSlide" Target="/ppt/notesSlides/notesSlide11.xml" Id="R2a6591a3124143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d419593b449a9" /><Relationship Type="http://schemas.openxmlformats.org/officeDocument/2006/relationships/image" Target="/ppt/media/image14.png" Id="R8c83cca41ba44e61" /><Relationship Type="http://schemas.openxmlformats.org/officeDocument/2006/relationships/notesSlide" Target="/ppt/notesSlides/notesSlide12.xml" Id="Rc13b37aefd774b7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aa51a981045fe" /><Relationship Type="http://schemas.openxmlformats.org/officeDocument/2006/relationships/image" Target="/ppt/media/image15.png" Id="Rbd146fa68a474a94" /><Relationship Type="http://schemas.openxmlformats.org/officeDocument/2006/relationships/notesSlide" Target="/ppt/notesSlides/notesSlide13.xml" Id="Rac46b459471b4c8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aeb6d276847fe" /><Relationship Type="http://schemas.openxmlformats.org/officeDocument/2006/relationships/image" Target="/ppt/media/image16.png" Id="R91d2d0ddf6594af9" /><Relationship Type="http://schemas.openxmlformats.org/officeDocument/2006/relationships/notesSlide" Target="/ppt/notesSlides/notesSlide14.xml" Id="R502eac1ea4f24de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Calendário cadastrado na RunnerHub — Santa Catarina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191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Provas</c:v>
          </c:tx>
          <c:spPr>
            <a:solidFill xmlns:a="http://schemas.openxmlformats.org/drawingml/2006/main">
              <a:srgbClr val="F7B500"/>
            </a:solidFill>
          </c:spPr>
          <c:cat>
            <c:numRef>
              <c:f>'Chart Data'!$A$2:$A$4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405</c:v>
                </c:pt>
                <c:pt idx="1">
                  <c:v>559</c:v>
                </c:pt>
                <c:pt idx="2">
                  <c:v>596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191A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CBC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  <c:max val="65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4F2E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2E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Perfil por gênero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191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doughnutChart>
        <c:ser>
          <c:idx val="0"/>
          <c:order val="0"/>
          <c:tx>
            <c:v>Participação</c:v>
          </c:tx>
          <c:dPt>
            <c:idx val="0"/>
            <c:spPr>
              <a:solidFill xmlns:a="http://schemas.openxmlformats.org/drawingml/2006/main">
                <a:srgbClr val="FF6413"/>
              </a:solidFill>
            </c:spPr>
          </c:dPt>
          <c:dPt>
            <c:idx val="1"/>
            <c:spPr>
              <a:solidFill xmlns:a="http://schemas.openxmlformats.org/drawingml/2006/main">
                <a:srgbClr val="D6D9DA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Mulheres</c:v>
                </c:pt>
                <c:pt idx="1">
                  <c:v>Homens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52.9</c:v>
                </c:pt>
                <c:pt idx="1">
                  <c:v>47.1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venir Next"/>
                  <a:ea typeface="Avenir Next"/>
                  <a:cs typeface="Avenir N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2"/>
      </c:doughnutChart>
      <c:spPr>
        <a:solidFill xmlns:a="http://schemas.openxmlformats.org/drawingml/2006/main">
          <a:srgbClr val="F4F2E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2E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Distância dos resultados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 b="1">
              <a:solidFill>
                <a:srgbClr val="17191A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doughnutChart>
        <c:ser>
          <c:idx val="0"/>
          <c:order val="0"/>
          <c:tx>
            <c:v>Participação</c:v>
          </c:tx>
          <c:dPt>
            <c:idx val="0"/>
            <c:spPr>
              <a:solidFill xmlns:a="http://schemas.openxmlformats.org/drawingml/2006/main">
                <a:srgbClr val="F7B500"/>
              </a:solidFill>
            </c:spPr>
          </c:dPt>
          <c:dPt>
            <c:idx val="1"/>
            <c:spPr>
              <a:solidFill xmlns:a="http://schemas.openxmlformats.org/drawingml/2006/main">
                <a:srgbClr val="D6D9DA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Até 5 km</c:v>
                </c:pt>
                <c:pt idx="1">
                  <c:v>Acima de 5 km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59.1</c:v>
                </c:pt>
                <c:pt idx="1">
                  <c:v>40.9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venir Next"/>
                  <a:ea typeface="Avenir Next"/>
                  <a:cs typeface="Avenir N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2"/>
      </c:doughnutChart>
      <c:spPr>
        <a:solidFill xmlns:a="http://schemas.openxmlformats.org/drawingml/2006/main">
          <a:srgbClr val="F4F2E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2E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5b8ea5c19c4e4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2E29C-2957-4D3F-AD94-5B23960B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E0F">
              <a:alpha val="7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4B717-ED76-4A01-9AA4-49035B2B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16941-D609-41D7-A5D8-42FD5B61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9563100" y="-381000"/>
            <a:ext cx="3143250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216d1b0ea54e7c"/>
          <a:stretch xmlns:a="http://schemas.openxmlformats.org/drawingml/2006/main"/>
        </p:blipFill>
        <p:spPr>
          <a:xfrm xmlns:a="http://schemas.openxmlformats.org/drawingml/2006/main">
            <a:off x="685800" y="546100"/>
            <a:ext cx="1790700" cy="298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97043-952A-4225-B1E9-1B387345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38125"/>
            <a:ext cx="120015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602647346d498c"/>
          <a:stretch xmlns:a="http://schemas.openxmlformats.org/drawingml/2006/main"/>
        </p:blipFill>
        <p:spPr>
          <a:xfrm xmlns:a="http://schemas.openxmlformats.org/drawingml/2006/main">
            <a:off x="10637394" y="314325"/>
            <a:ext cx="651762" cy="5524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5D6F0-59CE-4AC9-98BB-C3A991DE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819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69739-D851-4536-8B9D-EF785E59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5732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PROPOSTA DE PLATAFORMA ANUAL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2654EE-1866-478F-8F6E-E0C61FDC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857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6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NSC</a:t>
            </a:r>
            <a:r>
              <a:rPr sz="6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 CORRE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7D1232-6C73-4D70-BA8C-0D244D7D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casa da corrida catarinense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81AF00-341C-4651-93C6-1D666075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752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Dados confiáveis, conteúdo útil, comunidade, benefícios e experiências ao longo de 365 dias.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028FB1-D481-4938-9758-01705916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A8F9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D71FA2-E10E-452C-B986-A13A8586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RUNNERHUB × NSC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ACB692-D071-44D9-8040-EA51D058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Setembro de 2026</a:t>
            </a:r>
          </a:p>
        </p:txBody>
      </p:sp>
    </p:spTree>
    <p:extLst>
      <p:ext uri="{BB962C8B-B14F-4D97-AF65-F5344CB8AC3E}">
        <p14:creationId xmlns:p14="http://schemas.microsoft.com/office/powerpoint/2010/main" val="4182607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FF20F8-F306-4796-BF96-9E3AA175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9EA71-D8B1-4E31-BF42-03D707CE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OPORTUNIDADE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F8320-A250-4FD0-9152-758F0C48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4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Santa Catarina já corre. Falta um lugar que organize essa conversa.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4EE81-0091-40DF-B426-F1766A86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 densidade do calendário cria pauta, serviço, comunidade e receita durante o ano inteiro.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14E75-B3F5-47E1-950A-F5A835BC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80F8D-AF5F-4811-A097-1A589ADA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5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559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FBAA1-5C09-4F8C-84DE-A80CEA1C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corridas de rua ativas e não canceladas no calendário RunnerHub em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685C8-3A8D-49E6-9AF7-1EBD2F67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82CA9-297E-4ED8-BC34-2B285954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5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5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+38%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142428-4788-4EF4-8EFA-25E6BAEB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crescimento do calendário cadastrado versus 2024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B66BE-5333-4E1D-ABE9-110B6B3C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806226-B460-4C59-B271-3BA8D7AA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578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5º NO PAÍS EM 2025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3619500" y="2076450"/>
          <a:ext xmlns:a="http://schemas.openxmlformats.org/drawingml/2006/main" cx="77343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d4402b79bf4802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545ABF-1507-4579-8515-4FDB77DD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581650"/>
            <a:ext cx="77343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54FA3B-0152-4635-9F4D-A5BA06AE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7054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Até 10/09, 2026 já soma 399 provas no período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314CCA-E732-44B9-A9F0-40500A30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67690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0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+43,5% vs. 2025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63A185-83E8-4800-8684-1F612B9E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771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Base RunnerHub. Calendário cadastrado, não uma declaração de provas concluídas.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324697-5C6E-4AAD-AB64-2AE882ED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1e94bd96645a9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9D49DC-9EBE-4639-B040-595A9F6A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819034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021E80-407E-4DA7-818C-F4EDA09F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771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E3A3D-DF32-416D-B25E-ABC9C5E2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PRECISÃO EDITORIAL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B94D5-C2FD-4ACB-997D-2F07B92E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7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O problema não é falta de números. É falta de contexto sobre o número.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97244-2094-4D5C-964A-2D6D8547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Duas fontes públicas e operacionais podem descrever o mesmo estado com universos diferentes.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B1B36F-70A8-44C9-93DE-2F14A76B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53000" cy="342900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B9076-70D3-4201-AF36-A99F1C04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752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A006A-D859-4A36-906B-66033ACA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7172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ABRACEO / CBAt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0C4734-794D-4D26-AC19-A7F6F750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46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478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C19B39-4CE1-43A7-AEAE-5E662616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provas em SC em 2025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0EF642-6C49-4508-B144-4927D977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+71%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C9737-BD5B-419C-A43B-81951CE5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crescimento divulgado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3124C5-38EA-465D-BBF3-09590158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415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Fontes declaradas: CBAt, federações estaduais e DF. Sem microdados públicos acessíveis no material consultado.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B73911-32D9-4826-A1FB-8EA3C528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95500"/>
            <a:ext cx="4953000" cy="342900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DA349B-C70B-46A0-BF0B-1715B587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43150"/>
            <a:ext cx="1485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98A9E9-8A62-4499-9939-DC167D9A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717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RUNNERHUB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68F926-413B-4963-9022-E88F2620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813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559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6CD7E9-B9DC-41CA-9760-ADD9BC50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7662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provas ativas e não canceladas em SC em 2025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4DEF88-6FD1-45FF-B208-48E788F9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4337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+38%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70F477-B6C2-49C8-AD5F-6390C381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33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crescimento do calendário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2409FA-B910-476A-99A5-B3AE0F68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05375"/>
            <a:ext cx="415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Base operacional contínua do ecossistema RunnerHub. O indicador não mede o mesmo universo da ABRACEO.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7FF2F0-E0DE-40FE-B214-AAD3E7C0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908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A03CB5-3309-4ABF-9007-63926E12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00400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462A1B-C6F6-4675-AF8D-47C295B9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734050"/>
            <a:ext cx="91059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1DA"/>
          </a:solidFill>
          <a:ln xmlns:a="http://schemas.openxmlformats.org/drawingml/2006/main" w="9525">
            <a:solidFill>
              <a:srgbClr val="FFD78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E381EB-58D5-456E-A3F8-838F8CCE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857875"/>
            <a:ext cx="864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 NSC ganha um filtro técnico para não tratar cadastro parcial como o total do mercado.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5DD867-140D-48D9-BDB3-2FE3DD95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Fontes: ABRACEO/Máquina do Esporte e base RunnerHub. Comparação de medidas, não cálculo de cobertura.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7BF155-F86F-4ECF-A263-CE0A7313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f7495252ab4976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861235-5BC5-4887-9899-CB48C7B2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177930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26c401e7d48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435DF-EE48-4DF4-8886-EF4C96B7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C0D">
              <a:alpha val="8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E4CFB-42B2-4617-8C18-C3CE3349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0AC91-C75E-400E-ACCB-CA972425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DIFERENCIAL RUNNERHUB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DBE1B-330A-42E3-8282-19227D44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Dados que começam no resultado, não terminam no cadastro.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06277-28C9-46B7-8BD1-0DBAD532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O resultado publicado confirma execução e abre a leitura de perfil, distância, tempo, território e recorrência.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4A1E2-69BC-474C-82C7-D839B18B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22479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222426">
              <a:alpha val="92000"/>
            </a:srgbClr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985EA-8190-4A41-84B5-541D60E3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F3DF2-7587-4A22-9F12-1E3A593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3362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866080-F246-4D92-B968-53AC4891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9,2 mil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C08D61-884F-4D1F-AA26-2FD0E973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eventos mapeados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em 2025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9CC0C4-3B1E-464A-9ADF-7849FD83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43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7C8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0B9DF-EC95-4CD9-8BF9-B85C038B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09850"/>
            <a:ext cx="22479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222426">
              <a:alpha val="92000"/>
            </a:srgbClr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170150-39AB-429B-9D1E-F300F892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5CEC08-F0B3-4294-902B-F6785148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3362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8A8DD3-866F-4D36-AAE4-4B61A3A6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861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84,1%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6AD0A5-D8EB-4D68-BF42-3DC4062F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147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dos eventos com base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analítica disponível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A3D89B-ADB9-408F-BB75-575B753F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43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7C8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9498B2-E6C8-4972-B184-705539C6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09850"/>
            <a:ext cx="22479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222426">
              <a:alpha val="92000"/>
            </a:srgbClr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115678-3AE4-4540-A687-BE3CDB4C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27FEFD-13C7-4404-A576-41F4151A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3362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E817F3-D043-4126-B62A-FC0BF750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861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5,3 mi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BF1171-70F7-4D64-AF6D-7AB99041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147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conclusões registradas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em 2025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4275E1-15F5-4867-9406-3814441B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43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77C8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E5F45A-0B63-4CCC-884D-D6BD5F38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09850"/>
            <a:ext cx="22479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222426">
              <a:alpha val="92000"/>
            </a:srgbClr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5BFA8E-1037-46F5-B868-C0E29754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1D3AD0-AEC0-443E-8F67-FD46B086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33625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2F422D-C171-4199-8060-6D2E1692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861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11 mi+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7A0364-A19E-41BA-B4B8-3D3DF2A9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1790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resultados no acervo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Open Results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FD0E40-17EE-4F7B-ABF8-B130A075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0"/>
            <a:ext cx="10248900" cy="87630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AB1C55-65CE-4AAF-916A-7578B007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244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47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Registro diz que a prova foi informada. Resultado publicado mostra que ela aconteceu e revela o que veio depois.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58726C-2B15-4AD7-B0D8-69BBE926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00775"/>
            <a:ext cx="819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AEB3B6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AEB3B6"/>
                </a:solidFill>
                <a:latin typeface="Avenir Next"/>
                <a:ea typeface="Avenir Next"/>
                <a:cs typeface="Avenir Next"/>
              </a:rPr>
              <a:t>Fonte: Brasil que Corre — Provas 2025. ‘Conclusões’ não equivale a pessoas únicas.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4A0EAD-4C55-45DA-A685-E36C693E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24649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96617200248a4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580179-E477-4F4F-B2C0-FF1B7F60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B7BCB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B7BCB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157037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3B3FE8-2ED1-46DB-9358-DFA0B477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6BD3C-C59A-4E8C-96F6-2FC7ED8E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AUDIÊNCIA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9A0EA-C901-43FC-88F8-B2AAA55B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3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Quem corre oferece uma agenda editorial muito maior que prova e pódio.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82B09-D0BC-4468-9626-34B11CD5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 base revela uma audiência ampla, acessível e recorrente para conteúdo de serviço e histórias locais.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647700" y="2047875"/>
          <a:ext xmlns:a="http://schemas.openxmlformats.org/drawingml/2006/main" cx="331470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891a99202b4e6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24F8D-19BC-4E3F-A96D-F00E3CFC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004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52,9%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51869B-0CAE-4466-94C8-A8BAA589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195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mulheres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438650" y="2047875"/>
          <a:ext xmlns:a="http://schemas.openxmlformats.org/drawingml/2006/main" cx="331470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79cd2953014157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B1C3C2-A0D4-4CF1-94B4-BDDED381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00400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C58B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C58B00"/>
                </a:solidFill>
                <a:latin typeface="Avenir Next"/>
                <a:ea typeface="Avenir Next"/>
                <a:cs typeface="Avenir Next"/>
              </a:rPr>
              <a:t>59,1%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357C0-7973-4527-9A34-9FB7B57D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195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até 5 km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80A701-3AA8-4927-ADAE-82BC65FD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1242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B0579-91F3-4305-B5FA-9BF44E32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6220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50,5%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871D95-F6D9-479F-B66D-F19441AE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76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Millennials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916BF0-1AB1-4405-8B4B-4B294A29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43300"/>
            <a:ext cx="31242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8E00F2-7D04-477A-AC1B-477D0B79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Q4 concentra 33,5%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11CC16-5FB6-4E91-8A53-24DB6D9C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57700"/>
            <a:ext cx="31242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6362BE-99DB-4B6F-ACFF-2152227E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29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Novembro chega a 13,4%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776963-F49F-4A78-AE78-7BA0A71D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49655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E7F6F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E8DC0E-6520-40E2-80ED-444D5B02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0225"/>
            <a:ext cx="994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4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Conteúdo de saúde, treinamento, calendário regional e histórias de iniciantes pode ampliar a audiência além dos atletas de elite.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895AC5-98F7-4205-B41F-48E52F75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86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Fonte: Brasil que Corre — Provas 2025.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0FAD92-B839-426C-917A-4CBF76DE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7a4df26944c0b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6F6621-2A1A-4B47-8665-6808CED9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052068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9F2423-3873-4ACC-89FB-F88C3457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390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E0139-6754-4D6B-8314-0F41D5AC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PROPRIEDADE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B7F6D-75A6-4095-8AD0-4DB4E5A6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0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NSC Corre: uma plataforma anual, não uma cobertura eventual.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D75ED-B927-4F09-9093-EBEBC386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Um mesmo guarda-chuva conecta utilidade, conteúdo, comunidade e experiência.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05486-BB48-4BFD-8D34-EA809231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38475"/>
            <a:ext cx="2705100" cy="1485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DAEB7-BBE9-47C0-86CE-19566915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62325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5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NSC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997BA-322C-45AF-813C-E689487D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362325"/>
            <a:ext cx="125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CORRE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97A37-7A07-4E91-8A16-01F0D74D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147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A casa da corrida catarinense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21160D-757E-4910-AC78-C37EAFF7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DFE2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24318-7ABD-4D19-81F1-87B97466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857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4C1C9A-9B5D-4C7B-9311-0283DB7C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UTILIDADE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F44A9E-2076-42C4-A6E1-C910B68C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337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Calendário confiável, mudanças, cancelamentos e guia de provas.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F68490-EFE4-4FCA-B2EF-167EFC9A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DFE2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2CA19A-D7EB-46F9-B68F-C9CC9CDC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857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E6DFB7-61C7-41E3-AA24-2A7E0D90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9080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CONTEÚDO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991166-A7FC-4BEC-BEB4-2A699A2D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337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Agenda, histórias locais, especialistas e dados que viram pauta.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655D9B-AC7B-4ADF-92D8-4DC1C60E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DFE2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D64E90-576F-4A07-96C1-7EC6762C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857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42B1BA-7F8A-4688-ADD0-31909D5B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COMUNIDADE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DB9EE1-4E3E-4FC1-9C92-31091E84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815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Clubes, assessorias, desafios, ranking e conversa regional.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4601A4-5052-498E-B89C-1333B91E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2910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DFE2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1ADA6B-2547-4A85-8561-B4128EE8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29100"/>
            <a:ext cx="8572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FEDD49-5DE5-450D-9B0D-1B211B79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3865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EXPERIÊNCIA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E66BFB-FE32-4042-BAE0-B65D086E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815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Treinos, ativações, eventos parceiros e cobertura ao vivo.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5C747A-46FE-4458-8170-1B126AA0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90850"/>
            <a:ext cx="704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DA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0631D4-01C7-45BD-BB53-853CECCC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704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DA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475959-220B-4E7F-93F7-C6BACD87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33875"/>
            <a:ext cx="704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DA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5BDD4A-0CF5-491D-B6E8-03D0689D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33875"/>
            <a:ext cx="704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DA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517905-DCF9-4FEF-9001-8E2BE271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43575"/>
            <a:ext cx="81153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0455DD-B881-4023-BB1C-39C77C98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848350"/>
            <a:ext cx="7696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8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8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RunnerHub estrutura o dado e a jornada. NSC transforma isso em alcance, narrativa e receita.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3AAE6C-F89E-493C-B6F4-173DBEE3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847a46954b481f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7E93D1-C8FC-44BC-A5AC-86DC69FA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0651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8EC4F46-3CD4-4CE2-9DB9-6A50ACD1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C6195-2F10-4B81-9B41-79D92577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JORNADA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B7294-469B-4928-88DB-5DAEB756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7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Uma relação de 365 dias entre intenção, preparação e conquista.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8A27C-0CF3-461D-9FC5-D8A545EF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Cada etapa da jornada gera serviço para o corredor e inventário para a NSC.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E1BB6-49E3-4A29-8DE6-B46A3216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920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BC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7082A8-582F-4F34-B587-3EADA139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B5766-9688-49BB-A2E9-40E7711A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14B83E-6FE8-45E2-B886-ED988194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099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DESCOBRE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CAE64-46CB-480B-A1EE-4BF3A558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81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agenda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ED8EAC-A246-4722-AEEE-36969590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005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pauta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502215-F8CF-4E0F-8E33-7D41C176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CD087-D26C-474F-98FF-819D7006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8C8593-29A1-427F-B5E2-BC97B5B2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099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ESCOLHE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72799F-AA20-4459-897B-B4B69B56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81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comparação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BB99FC-25E8-468F-BA97-DE82ACC3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2005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serviço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E4C164-EDB4-4D1E-9522-85C1598E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CEED7B-2F38-42EB-B89C-1BCF784B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FB0085-D113-486B-ACFC-A3BDCB6E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099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PREPARA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B81F3D-05B4-44BF-9958-F7E78E1C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81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treino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C61F84-F33E-4ECC-B8F8-57D2F5A1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005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conteúdo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D9E1D4-C868-4CE5-8A62-CAEF6B47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8AFD6F-C0BB-4AE8-9C56-404CF222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32CBE7-7C98-4F94-B3E7-ECF75F64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2099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CORRE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8C66BA-6FB2-44BD-8C13-EF5FBD54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581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prova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D1C14F-DC98-4510-9979-3290777A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2005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cobertura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0EF9E5-2268-4DB3-B51D-C4FB6788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80C8BC-4026-4E80-9692-D6B54FAC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A12623-AD66-46AA-B1A5-FA56C0FF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099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CONFIRMA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148699-9D15-4101-AFB3-136ADF34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81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resultado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AE7107-F86A-4DB8-B066-9B9C0A31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005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dados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B96C6D-F86A-49A1-88C2-99C1482F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6AFD38-079E-493F-B4C1-21EC0918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BC7A6F-6CD2-41EC-ACFE-CDC65CFE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099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COMPARTILHA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521C89-7BBA-4A6A-8CE1-9FD21DED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581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história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FCBF18-02BA-46DA-97C6-E640035B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2005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comunidade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2FF63A-5708-4610-A476-02DADF8B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6BC7D0-77BA-4C4B-8215-C9939E56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241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68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B55125-BF94-40A4-926D-CC99071C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2099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RECOMEÇA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4ABD26-6238-4FC1-AE78-3DE1CEC3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81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nova meta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C16127-D7D2-4190-BC1B-A59B3384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2005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CRM opt-in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240C65-40F3-4666-ABA4-0792A484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104952-B745-4169-83F4-64337DE7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909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CORREDOR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B1F87E-B59F-4C23-8FA8-7FFD07C4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485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0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4104D2-A895-4D13-9EF0-2D3BFBED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005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NSC + RUNNERHUB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A0145CB-208A-4943-8DDB-BDDAD0B1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95875"/>
            <a:ext cx="99822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E14E4A-86AC-4E9B-84FA-8A756873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768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3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corrida deixa de ser evento pontual e vira hábito editorial, benefício recorrente e plataforma comercial.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EDECE96-97B5-45F6-9204-DB2B3DD3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389e290ec249b7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6C218A5-B7EA-42CF-B8DB-1C7DA92F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885505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F24D601-A492-44B3-8372-553629F9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47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616D2-63C7-4103-9871-E770192E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NOVO MOTOR DE VALOR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842CC-C93A-4CCA-8724-F1774141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5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Corre no Clube: benefício que transforma audiência em relação.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7FF17-1790-4C88-971B-7CF4545C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Uma vertical esportiva dentro do Clube NSC pode conectar assinatura, economia, experiência e dados consentidos.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EC45F-2D34-4C30-AB1A-E0B20A2B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667000" cy="3524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096C14-DF44-45A1-9431-509AFE3A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AC140-2A74-43BD-BD86-53D11F37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717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PROPOSTA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62296-A906-44BA-9D63-835251D9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22098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90ed97c164665">
            <a:extLst>
              <a:ext uri="{96DAC541-7B7A-43D3-8B79-37D633B846F1}">
                <asvg:svgBlip xmlns:asvg="http://schemas.microsoft.com/office/drawing/2016/SVG/main" r:embed="R3c752f14e7a241a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09700" y="2943225"/>
            <a:ext cx="1066800" cy="1028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91207C-0F41-4DD9-92A9-80B936BC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76725"/>
            <a:ext cx="1981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CORRE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7111DA-C95F-4490-A7AA-B560A8B0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8155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8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benefício esportivo para assinantes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972DE-DC81-49F3-9AF8-7C4C7402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14550"/>
            <a:ext cx="4686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3A27AF-3CB1-420A-A537-E5EF4BA3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574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52FD1-B572-4D84-BCEF-C1028759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669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7D031A-0D89-4550-9C1C-D455E9BA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2885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VAGA COM VANTAGEM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51F4CA-1FD1-4C28-9227-977ED04A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0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Descontos, lotes antecipados e cotas limitadas em provas parceiras.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937DA1-740A-4FF7-8D75-5E17A3F2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71800"/>
            <a:ext cx="4686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64E5F0-C8D4-4698-AB9C-9D1384F9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14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0B6B97-9D7F-4A2D-855F-70919868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2420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9A9F7D-4641-48DF-B49E-DDCE4B20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8610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PREPARE-SE MELHOR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86B7CA-68C2-433F-BBA7-FD268C1C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337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0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Academias, fisioterapia, laboratórios, nutrição e recuperação.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1A4735-CF07-4A2B-BDCA-57FCED26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29050"/>
            <a:ext cx="4686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4936B5-B0CE-4E6A-8993-0BAD774E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719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5FC387-780F-41A9-94A7-CB6A3B88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8145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F1E142-AD1A-4924-BAAC-C9DC955C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VIVA A PROVA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FDDF5E-3A88-46FE-88C4-EAB9CF43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9100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Treinos, preview de percurso, retirada VIP e hospitalidade.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C042E0-C1AC-4F34-AEA4-FB4D205E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86300"/>
            <a:ext cx="46863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5F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F85778-B70C-4A29-809D-8E90B81F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291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8F50AF-35CC-49FA-A567-8312E864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3870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7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914C06-4313-4DBE-BA47-87044E4A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00600"/>
            <a:ext cx="371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CORRA E GANHE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AB3489-CA01-448B-A70E-B96CEEB2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482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4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Desafios, recorrência e recompensas com consentimento do usuário.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8A1F23-1082-4BCA-B2CC-CEAC993F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14550"/>
            <a:ext cx="2914650" cy="35242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FFD1B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D24879-65B1-47DA-A44A-73E45B02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52675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A EQUAÇÃO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BD61BA-3C41-42D0-8C4E-4F8E3AB4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813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Assinante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42D0F3-F423-4553-B659-D2BDB298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003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economia + acesso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A23F25-F2EB-4B89-8743-74602171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33725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1B89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854D10-6F60-4BCE-A213-3648CFD5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242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NSC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E4C758-39B7-46DA-8C88-BBEA215D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4327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aquisição + retenção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92FF4C-1115-47D3-9355-0DA0B51F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76650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1B8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CB163F-D468-4B24-B06B-C94D5A19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67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Marcas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8D0AE2-A7B2-47F8-A84E-BC3A0E39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862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87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conversão + contexto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4A1EF4-009C-4846-B113-DE4F0CE6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19575"/>
            <a:ext cx="240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1B89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68C509-A32D-4468-A028-6658A951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100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RunnerHub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68C3D2-9831-4FC7-98D2-EA6488D7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42912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24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distribuição + medição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FBCE70-F88F-4762-9D39-E753E138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67275"/>
            <a:ext cx="240030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596F73-27C1-4A53-B084-74C9AB62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911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Benefício gera dado de valor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3831EF-F213-4459-8D5D-919CB06C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80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O Clube NSC declara 500+ parceiros em SC e benefícios de até 50%. Os itens acima são propostas sujeitas a negociação.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B439AEF-49E9-4A94-99D1-94357532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6b6dc137a24048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20032FE-A91D-45D8-82AC-D5B2AB7F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567875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5F5886-43AB-4962-993E-74FE7706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55D0C6-B911-4B1B-9577-0027C6AF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MONETIZAÇÃO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BA67E2-5949-4435-8C6C-10AEFC47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1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Uma oferta que soma mídia, benefício, dados e experiência.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24C8F-E4D3-46F4-BEFE-71B8DF06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O patrocinador compra presença ao longo da jornada, com entregas e métricas que cabem no mesmo painel.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D29B6-6852-4FDB-8BDE-6E8FAD11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1338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29216-AD42-47FA-A82D-91CADE3D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3714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01  PROPRIEDADE ALWAYS-ON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2D0D6-8906-44F4-81F9-EA03D672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rPr>
              <a:t>Naming, presença na home, agenda e quadros recorrentes.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D9F4C-9D90-4F7A-BDB0-BE428466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45148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8404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A24A1-561F-4E02-830C-6C7A1D8D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86100"/>
            <a:ext cx="409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02  CONTEÚDO E SERVIÇO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8F62F3-85A1-4C41-8608-A5396F2F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14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rPr>
              <a:t>Radar da semana, histórias, especialistas e dados da corrida.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CACF96-FCD7-4D58-8C47-37E637CA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33800"/>
            <a:ext cx="48958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A8E469-7DB6-4170-B79C-D7B353B4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29050"/>
            <a:ext cx="4476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  BENEFÍCIO NO CLUBE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7FEED6-4D95-4660-BA56-6987FC11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57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E5E8E9"/>
                </a:solidFill>
                <a:latin typeface="Avenir Next"/>
                <a:ea typeface="Avenir Next"/>
                <a:cs typeface="Avenir Next"/>
              </a:rPr>
              <a:t>Vantagem do mês, cotas de vagas e experiências exclusivas.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6F62F7-FC14-4ADD-8137-3A5BE980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76750"/>
            <a:ext cx="52768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842904-D24B-4380-9FD0-60AE5F50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72000"/>
            <a:ext cx="4857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04  EXPERIÊNCIA E EVENTO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E083FB-B3E8-4E97-A65D-9DFA56F2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0060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 i="0">
                <a:solidFill>
                  <a:srgbClr val="554100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554100"/>
                </a:solidFill>
                <a:latin typeface="Avenir Next"/>
                <a:ea typeface="Avenir Next"/>
                <a:cs typeface="Avenir Next"/>
              </a:rPr>
              <a:t>Treinos, Corrida Verde, recovery lounge e cobertura ao vivo.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137981-7C09-4F8C-9A75-5DBD8E07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52650"/>
            <a:ext cx="388620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4A666B-5B91-404F-8345-99348519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03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PAINEL DE VALOR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7A7FC3-9602-4130-AE4A-A8360035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28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BF3971-7FBD-47E4-B9AE-59B3EA0D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19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Alcance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47F5F6-990D-4C24-8D64-0B244327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28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pessoas expostas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B977B5-9DBE-4345-8EAC-B57DEDBE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9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BFEC63-EBC2-4FF7-B31A-7091104A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00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Consumo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6F7198-DC46-44B9-A463-F5ACC111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09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tempo, vídeo e retorno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2B622E-DD08-4086-B0E7-AD170945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90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567359-79B6-47D4-A12F-A7E1D6CD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81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Benefício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5E8BFA-243A-497B-80DA-308FCBD9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90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resgates e economia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2CB2DA-C9CA-4B1F-8424-B8DE740A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71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1B1AC4-F528-4DE3-B48F-A1B17EC7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62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Conversão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9D97DC-242F-461B-BBB8-C2C593A4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71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leads opt-in e inscrições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4EB20C-5316-49FB-A8CF-3D28CADD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52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D485D6-15E9-432B-8685-B95F3B08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Assinatura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F1413F-4C49-40B5-880F-65254453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52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aquisição e retenção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9DA01F-9630-409C-A530-0461C077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339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B4EE48-22AD-4F79-918B-3F1A2F59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244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Receita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F01D05-0DBB-4658-A16A-B82326E7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33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patrocínio e pipeline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554337-161D-48FD-BE72-F6C352CD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505450"/>
            <a:ext cx="388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5F0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100755-CCF9-4026-AA9B-928E78A1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534025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0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684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684A"/>
                </a:solidFill>
                <a:latin typeface="Avenir Next"/>
                <a:ea typeface="Avenir Next"/>
                <a:cs typeface="Avenir Next"/>
              </a:rPr>
              <a:t>LGPD: DADOS E SEGMENTAÇÃO SOMENTE COM CONSENTIMENTO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DF8A78-16F9-409B-9160-2A9F172A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Categorias naturais: saúde, finanças, mobilidade, hidratação, nutrição, vestuário e turismo regional.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AD4132-7FE9-4D19-877B-DA9536E8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12b1da35442d9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B602B5-E274-4709-8B9F-015002D8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965054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1C60DAB-9396-42E0-B325-B388BE90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66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3EA32-673D-47AF-84CB-7C8968A3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PRIMEIRO PASSO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56006-A121-454D-9E8B-33909A36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Piloto de 90 dias para provar valor antes de escalar.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EEFC9-B57B-430B-AC2D-68505BFA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Um ciclo curto cria o produto mínimo, ativa o Clube NSC e mede adesão real.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57EBE-C05A-4DC3-B704-FFBB9BCD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162300" cy="2895600"/>
          </a:xfrm>
          <a:prstGeom xmlns:a="http://schemas.openxmlformats.org/drawingml/2006/main" prst="roundRect">
            <a:avLst>
              <a:gd name="adj" fmla="val 7237"/>
            </a:avLst>
          </a:prstGeom>
          <a:solidFill xmlns:a="http://schemas.openxmlformats.org/drawingml/2006/main">
            <a:srgbClr val="F3F4F3"/>
          </a:solidFill>
          <a:ln xmlns:a="http://schemas.openxmlformats.org/drawingml/2006/main" w="9525">
            <a:solidFill>
              <a:srgbClr val="DCDF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22C12-BA68-4929-B7F8-7885372E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162300" cy="609600"/>
          </a:xfrm>
          <a:prstGeom xmlns:a="http://schemas.openxmlformats.org/drawingml/2006/main" prst="roundRect">
            <a:avLst>
              <a:gd name="adj" fmla="val 34375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9B2E84-BE71-426B-A89E-611500E1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DIAS 0–30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BFEF6-5C4B-4734-A8D7-E4FBCF6F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336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FUNDAR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7CA3DE-46D9-4978-AC4F-B642EB92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206E4-B263-4C40-878B-0AD22066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14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4F5F04-5FE3-46B9-95A6-A4CD6375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051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nome e identidade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713180-EE00-4C2C-91B6-97CCD87D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FB9661-F50D-4B18-B363-2F9B871C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528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CC7694-7528-466D-ABAC-37BA50FB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ritual editorial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B4A0F4-185C-4B4D-8172-114B92F6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D61660-CEF8-4D74-A7E1-4F54A674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909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178177-B6A0-4D59-A5EA-01A314E2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814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feed de calendário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1024DE-4F0B-47B7-9346-00457189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73C933-94CD-46BE-939D-6B3A59EF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D3B9C8-4986-4FAB-8C97-24911273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96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3 benefícios iniciais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C63A79-EF4E-4764-89D8-0069C885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AD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C17421-23F1-4648-B031-0057A558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90750"/>
            <a:ext cx="3162300" cy="2895600"/>
          </a:xfrm>
          <a:prstGeom xmlns:a="http://schemas.openxmlformats.org/drawingml/2006/main" prst="roundRect">
            <a:avLst>
              <a:gd name="adj" fmla="val 7237"/>
            </a:avLst>
          </a:prstGeom>
          <a:solidFill xmlns:a="http://schemas.openxmlformats.org/drawingml/2006/main">
            <a:srgbClr val="F3F4F3"/>
          </a:solidFill>
          <a:ln xmlns:a="http://schemas.openxmlformats.org/drawingml/2006/main" w="9525">
            <a:solidFill>
              <a:srgbClr val="DCDF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021977-2D41-469C-A1A1-F5788AB1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90750"/>
            <a:ext cx="3162300" cy="609600"/>
          </a:xfrm>
          <a:prstGeom xmlns:a="http://schemas.openxmlformats.org/drawingml/2006/main" prst="roundRect">
            <a:avLst>
              <a:gd name="adj" fmla="val 34375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42EBBC-2ED4-4D23-8D89-5811E5CF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33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DIAS 31–60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446F87-086E-41BE-AF7B-8E9D9850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336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ATIVAR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A8414E-E025-4098-B713-F4F8C837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D74BFF-FA37-4B3E-B27B-169E4BB4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14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0767D9-F19D-437A-B54E-183ED1A5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051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lançamento ao público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BDBD53-E475-401D-954D-F88CE64F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43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083A14-D46F-4122-B760-0589D7D8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528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B73D4E-8311-4C60-A4DB-41405C68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433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agenda semanal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9759E8-7983-4CD3-892F-1DE8B1F5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81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0FCEC6-62BF-4E32-9A78-56C3A101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909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55AA45-B264-45D6-970B-0AC279BC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814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primeiro treino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2E0459-5AC3-4F63-8B95-056F3A9A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19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89B305-DAE1-42CB-B4AB-F2DE8A35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291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E2E969-30EB-4E43-86EE-A68DD709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196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pacotes a marcas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E9EDF0-A6FD-4CA0-9129-2E186527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ADB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6B73F2-5DAD-4BAB-92F4-E8BE26FC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162300" cy="2895600"/>
          </a:xfrm>
          <a:prstGeom xmlns:a="http://schemas.openxmlformats.org/drawingml/2006/main" prst="roundRect">
            <a:avLst>
              <a:gd name="adj" fmla="val 7237"/>
            </a:avLst>
          </a:prstGeom>
          <a:solidFill xmlns:a="http://schemas.openxmlformats.org/drawingml/2006/main">
            <a:srgbClr val="F3F4F3"/>
          </a:solidFill>
          <a:ln xmlns:a="http://schemas.openxmlformats.org/drawingml/2006/main" w="9525">
            <a:solidFill>
              <a:srgbClr val="DCDF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F094E8-2089-4673-B73F-5C473F2E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162300" cy="609600"/>
          </a:xfrm>
          <a:prstGeom xmlns:a="http://schemas.openxmlformats.org/drawingml/2006/main" prst="roundRect">
            <a:avLst>
              <a:gd name="adj" fmla="val 34375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B285B5-1CB7-47C1-A231-D5E3FE18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33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DIAS 61–90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16E105-3467-413E-9B49-9CA42416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336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PROVAR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4A7342-B09F-43DF-8769-43425D53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05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8D3CEC-6149-4BCD-87F5-364778FB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146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6E348F0-B163-401C-BFA0-04B04A74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evento âncora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33E1CD8-B86F-4AD6-BCC2-E8699DD8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43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E24DB4-41E0-4A48-95F5-4EA1BD2A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528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8E48BCE-2C5E-4E08-AB30-CFF074FC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433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conteúdo de resultados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796C47C-A4B2-4B23-9296-62D539DD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81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F3E5866-EF9F-4DC1-9B29-25201A92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909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4EDDD3D-1EE5-46D0-B1B2-48725873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8145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dashboard do piloto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1747A8-9CF0-4ABB-BA60-A169F23F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19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342A27C-7C28-447B-A312-5204C0DA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291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58B42A3-8E68-47C5-86E3-887C4619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roadmap de escala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9938779-5191-440F-AF96-8FF61145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10200"/>
            <a:ext cx="9448800" cy="609600"/>
          </a:xfrm>
          <a:prstGeom xmlns:a="http://schemas.openxmlformats.org/drawingml/2006/main" prst="roundRect">
            <a:avLst>
              <a:gd name="adj" fmla="val 26563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6601A3A-D831-4376-A79F-FEAA1913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581650"/>
            <a:ext cx="891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5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Métricas do piloto: audiência • cadastros opt-in • resgates • conversões • pipeline comercial • sinal de assinatura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6F1E36E-E72B-43CE-92F2-EA2DAE53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88d261b1a24017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1739362-34D1-42BF-B032-1E77E401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442938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415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98CDCC-C89B-4873-B89D-84C880EF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55C77-8954-4046-AD69-BDC3A7B7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9334500" y="-666750"/>
            <a:ext cx="3619500" cy="14287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89614-E757-41B4-B424-732D1095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0">
            <a:off x="-666750" y="6096000"/>
            <a:ext cx="4000500" cy="1143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E9874-02AD-448E-A6BE-1DFA567F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600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FE8E4-EEF4-4EF9-AF7F-AE0AAD69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PRÓXIMO PASSO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B84E3-6292-4F72-95C1-0B387A1F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6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decisão que pedimos nesta reunião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BCA70-101F-43CA-BA3B-52F6B932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Sair com um piloto patrocinado, donos claros e uma data de estreia.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63D15-3DD1-422F-8A84-EBB607BD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257550" cy="2038350"/>
          </a:xfrm>
          <a:prstGeom xmlns:a="http://schemas.openxmlformats.org/drawingml/2006/main" prst="roundRect">
            <a:avLst>
              <a:gd name="adj" fmla="val 10280"/>
            </a:avLst>
          </a:prstGeom>
          <a:solidFill xmlns:a="http://schemas.openxmlformats.org/drawingml/2006/main">
            <a:srgbClr val="222426"/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33C2CB-8CC2-425C-8B33-3EA1CA70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01D65E-2ED1-4497-A29A-D5DB35BF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622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4BE49-5EE5-4E43-A67F-03C545C2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APROVAR O CO-DESENHO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A2B2B5-4990-43A9-B559-8B777F63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Piloto de 90 dias sob a marca NSC Corre.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5A48E0-FBD5-49CC-9542-A5E3E816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3257550" cy="2038350"/>
          </a:xfrm>
          <a:prstGeom xmlns:a="http://schemas.openxmlformats.org/drawingml/2006/main" prst="roundRect">
            <a:avLst>
              <a:gd name="adj" fmla="val 10280"/>
            </a:avLst>
          </a:prstGeom>
          <a:solidFill xmlns:a="http://schemas.openxmlformats.org/drawingml/2006/main">
            <a:srgbClr val="222426"/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B4B8C8-844B-4E65-A5AE-69B59A35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5518F5-B954-41F4-9EBC-AFB1F245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622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2AF890-DC9D-404B-954E-286092AD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385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NOMEAR OS DONOS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99BA45-6044-442E-9395-9AEFA34E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576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Editorial, comercial, produto, Clube NSC e RunnerHub.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CF1744-BC20-41BF-91F5-FA5D6A99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24150"/>
            <a:ext cx="3257550" cy="2038350"/>
          </a:xfrm>
          <a:prstGeom xmlns:a="http://schemas.openxmlformats.org/drawingml/2006/main" prst="roundRect">
            <a:avLst>
              <a:gd name="adj" fmla="val 10280"/>
            </a:avLst>
          </a:prstGeom>
          <a:solidFill xmlns:a="http://schemas.openxmlformats.org/drawingml/2006/main">
            <a:srgbClr val="222426"/>
          </a:solidFill>
          <a:ln xmlns:a="http://schemas.openxmlformats.org/drawingml/2006/main" w="9525">
            <a:solidFill>
              <a:srgbClr val="4448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3B9970-FA82-4184-ACC3-F6381D16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FBB6C6-CEF5-4499-99AB-516508A9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622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41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07DB59-727C-4A89-85F1-4DB82121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385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ESCOLHER A ÂNCORA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5DC60D-4C0C-4A29-BDE5-91A74464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576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D9DDDF"/>
                </a:solidFill>
                <a:latin typeface="Avenir Next"/>
                <a:ea typeface="Avenir Next"/>
                <a:cs typeface="Avenir Next"/>
              </a:rPr>
              <a:t>Um evento e três benefícios para a primeira ativação.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C2BF73-0503-4486-9143-84E889A3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19700"/>
            <a:ext cx="68961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B73F62-688E-4ED1-BCFF-7D9ECDF3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410200"/>
            <a:ext cx="636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9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Saída desejada: workshop agendado + responsáveis + data de lançamento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a02bb0df894fef"/>
          <a:stretch xmlns:a="http://schemas.openxmlformats.org/drawingml/2006/main"/>
        </p:blipFill>
        <p:spPr>
          <a:xfrm xmlns:a="http://schemas.openxmlformats.org/drawingml/2006/main">
            <a:off x="685800" y="6294438"/>
            <a:ext cx="1504950" cy="250825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8BDC9F-DAF6-466E-9CF2-691516B4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2865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7B500"/>
                </a:solidFill>
                <a:latin typeface="Avenir Next"/>
                <a:ea typeface="Avenir Next"/>
                <a:cs typeface="Avenir Next"/>
              </a:rPr>
              <a:t>NSC CORRE</a:t>
            </a:r>
          </a:p>
        </p:txBody>
      </p:sp>
    </p:spTree>
    <p:extLst>
      <p:ext uri="{BB962C8B-B14F-4D97-AF65-F5344CB8AC3E}">
        <p14:creationId xmlns:p14="http://schemas.microsoft.com/office/powerpoint/2010/main" val="8925329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70903D-4403-4B13-93F3-533A5FC6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C82E9-6D81-486E-ACCB-769F2C39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APÊNDICE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0422D-BC9D-4C24-B4D1-DB68E05C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4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Nota metodológica: números diferentes não podem ser somados.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C34AC-2C04-4A74-A8BA-CF588A00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Antes de comparar fontes, quatro perguntas precisam estar respondidas.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023F1-4868-4C67-ADA5-0CA3170A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2578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F89D6-B71D-4FD4-AFDD-9D97EEFC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39FE8-B25F-41C9-A410-DDEF3ADB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316906-38CE-4B0A-BCFD-CD49F088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241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QUAL É O UNIVERSO?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CA498-E11B-40C4-8F7A-145F0C0F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670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Permit, federação, cadastro próprio, evento mapeado ou prova com resultado publicado?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C870A4-BF37-4E2F-A5CD-289130FF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14550"/>
            <a:ext cx="52578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5A8B9A-3DE1-4C1B-A151-C9748757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241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0A45F-42F5-40BE-9305-54023712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B2D9AA-FDBD-48C3-8F6B-BF6C6331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241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QUAL É O CORTE?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06B2A0-7898-44EB-8ABE-74C550E3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670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Calendário completo, ano corrido ou posição até uma data específica?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9BB905-F0B5-4065-8BC7-1EBC215E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52578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65A421-9D8A-488D-AC58-110A1620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150EF6-6CE1-4577-ACFD-B32DB8D4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00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86B5E3-C15B-47C7-A43D-C84B1F5B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HÁ CONFIRMAÇÃO?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AC87BA-A430-4453-AD79-2A952282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434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Cadastro informa intenção. Resultado, cobertura ou evidência operacional informa execução.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7096AB-A8C2-4E15-9A27-946F9B46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5257800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ECFD7D-632A-4EFC-BB22-ACC2BB4A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B37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82ADA6-201C-4907-9C45-430F1C0A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1002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C1BA77-F76C-4A38-876C-CDBBB928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005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COMO DUPLICAÇÕES SÃO TRATADAS?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85A0F8-02E2-497B-B18A-32FCADE1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4340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238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Sem microdados e chave de deduplicação, diferenças não viram taxa de cobertura.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96BD91-9D4F-48A5-ABE2-FACA0D66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62600"/>
            <a:ext cx="9296400" cy="533400"/>
          </a:xfrm>
          <a:prstGeom xmlns:a="http://schemas.openxmlformats.org/drawingml/2006/main" prst="roundRect">
            <a:avLst>
              <a:gd name="adj" fmla="val 26786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C2FDD0-E24D-43C9-AD80-D1346E36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705475"/>
            <a:ext cx="880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Regra editorial: publicar fonte, definição, período e limitação junto do número.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97E502-FC28-47E3-B2CA-3FC27DE1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83cca41ba44e61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E141DE-3ADE-4020-8E82-7C54C618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475942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C5C357-CB0B-4CFE-B903-B75D3002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7C772-7612-4DAD-9617-B2A4215C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APÊNDICE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36C74-20F2-4A70-8B0A-7E4036EA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8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Modelo de parceria para começar leve e preservar credibilidade.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AFA49-739A-4A15-AD11-2D38768B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Papéis claros evitam retrabalho editorial, comercial e de produto.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7CD41-389E-48CB-886D-2DC32612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31470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7DB71-29F2-4B4F-8608-F54C4B81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31470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64B18-0B6C-4C10-9679-B3D9F630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RUNNERHUB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AB7D4-AA68-4DC7-ADEB-ED4480D3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FF3C3C-2CDE-4DB4-8DA6-6F0C8AB7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taxonomia e calendário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E18B7-A640-47F7-9DD0-996CF978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AFF70-2898-4838-A327-313A587E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052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validação e contexto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27B90E-70D9-4F4A-971B-C2B552D2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7B38FD-FF24-4E1A-90B1-A6293485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resultados e inteligência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8B5010-291C-4BFE-B041-4CCA5BE8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DBD2B4-1499-4745-A6E7-8FC11C94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96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painel do piloto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EA1D26-32D6-4D12-AFC6-31A1B559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52650"/>
            <a:ext cx="331470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DDEBAF-FA9F-43B1-B64D-2C852DE8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52650"/>
            <a:ext cx="331470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79DC6B-D2B9-4CB9-A0DA-0446CFAF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24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NSC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4833E4-ECD1-44BC-BBBC-A83EFC01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67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67B61D-B44E-4873-85C6-76C3E9DD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linha editorial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C5AF67-CC0F-4BDD-92C5-49142CE9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24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AF5CE8-BCFB-474E-BB34-9058E73A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052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distribuição multicanal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D3B574-E030-4846-BC49-B54F8FF4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81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B3BC32-E30C-4373-A4A0-255B1B64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624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venda e branded content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796D8E-21A6-47B1-8BD1-C55851D9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38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F7C6F4-84E5-4129-B076-19BE4363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196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produção e experiência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40E47A-DBC7-4122-A68A-0A6F36BF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52650"/>
            <a:ext cx="331470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2F4F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E2C74D-3BBD-4512-8811-EC90647F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52650"/>
            <a:ext cx="331470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CA1A89-D757-47A6-B0B5-D552A2EF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EM CONJUNTO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BA7D95-9679-44DE-8DED-35297F38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67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57D7AD-A861-4FB3-8503-46BD304D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480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benefícios do Clube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8E35A9-0E2C-4458-8B39-25A32D9C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24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1248EF-F18D-4E50-A918-219716DF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pacotes a patrocinadores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83F3A8-9C38-49FB-94BA-0337D785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81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6B37A9-E9BC-47D3-B64D-D3958170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624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governança de marca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3D5B34-2E25-4DE7-847D-DDBD340D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38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C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8C78B3-BD42-416F-AA6C-515B0453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196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roadmap e metas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279A95-E1D2-422B-81A4-B447FE2D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C43FE4-DE55-4445-AC3A-2F6716D2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435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PROTEÇÕES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DBFC72-1177-4C87-82DD-F2D1CC7D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24475"/>
            <a:ext cx="902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fonte visível • protocolo de correção • consentimento LGPD • aprovação de marcas • direitos sobre eventos e imagens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BCD728-6A6F-44FD-BE0A-7F7797B2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791200"/>
            <a:ext cx="78867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EE2A36-8DF9-4640-BE9F-B80A9805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886450"/>
            <a:ext cx="754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6413"/>
                </a:solidFill>
                <a:latin typeface="Avenir Next"/>
                <a:ea typeface="Avenir Next"/>
                <a:cs typeface="Avenir Next"/>
              </a:rPr>
              <a:t>Credibilidade é parte do produto, não apenas uma etapa de revisão.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EF6370-31D3-482E-80A6-01C3CB15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46fa68a474a94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956E732-0061-43C1-B5E6-6EB8B205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682629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4C40A8-B6DC-4B5C-B45B-3C845E22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0719F-9713-41E1-ABB0-C9DD9EBD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APÊNDICE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1D405-0D7D-4C23-AC59-1182AA63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Fontes e limites desta proposta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9B29C-0B85-49A9-A837-FFDC1C45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Dados externos e materiais fornecidos foram mantidos separados das recomendações de parceria.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405CD-52B0-4A79-8C6D-8C94D61A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105400" cy="2952750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D658E-660F-4670-854C-20DC5A22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105400" cy="533400"/>
          </a:xfrm>
          <a:prstGeom xmlns:a="http://schemas.openxmlformats.org/drawingml/2006/main" prst="roundRect">
            <a:avLst>
              <a:gd name="adj" fmla="val 39286"/>
            </a:avLst>
          </a:prstGeom>
          <a:solidFill xmlns:a="http://schemas.openxmlformats.org/drawingml/2006/main">
            <a:srgbClr val="F7B5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60DBCC-7B6F-4A3E-8EDD-1701F38E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76475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MATERIAIS RUNNERHUB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0C48A-B073-4210-928A-8F49BEE9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Brasil que Corre — Provas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C9FB9-65D7-4EBC-BB55-95AC86D2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146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PDF fornecido pelo usuário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A4ECE-D214-4D0C-8CAE-1267CD3C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E204FD-659E-47E4-9C85-D7A15152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Base oficial SC 2024–2026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E5884-25F3-46C7-8B24-EB92FBD3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385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46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números fornecidos pelo usuário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C33CA7-9D1D-4280-944E-9429F31A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4AEE3-A3D4-4292-99A4-6C560334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Mapear parceria RunnerHub NSC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E99F3F-3128-47E8-9972-BED5FE97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624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briefing inicial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AA56FC-4384-4A7A-B4D5-4C421A43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E6942-0B59-48AB-83DD-ACB3A1AD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Apresentação anterior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CE11D1-D52D-4E10-9651-2DC795F0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862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5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referência crítica, não template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44E7FC-B9A8-4C54-9C8E-5F980D73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105400" cy="2952750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C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8B3FE2-186A-4D4E-914E-113B18DE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5105400" cy="533400"/>
          </a:xfrm>
          <a:prstGeom xmlns:a="http://schemas.openxmlformats.org/drawingml/2006/main" prst="roundRect">
            <a:avLst>
              <a:gd name="adj" fmla="val 39286"/>
            </a:avLst>
          </a:prstGeom>
          <a:solidFill xmlns:a="http://schemas.openxmlformats.org/drawingml/2006/main">
            <a:srgbClr val="FF641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83419B-CAE0-42E4-8633-87BA339F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76475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FONTES PÚBLICAS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21BC96-FA05-40F6-A561-394188F3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05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ABRACEO / CBAt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4DF59F-C9BD-407E-96EE-EF73A1F1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146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902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levantamento divulgado em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1FC2DF-5DDC-4A0B-B8D2-416635C8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6707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CFFAD6-E87D-445E-858A-2E579365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29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Máquina do Esporte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10A277-A4CB-4E62-B54D-F98416B3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385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038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matéria sobre crescimento em 2025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971AA2-DFA0-44F4-9C48-1F330388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909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F681B1-FD7C-4966-82C4-0B601479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528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NSC TV e NSC Esporte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42106E-C3A1-4051-B356-A7BD055C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9624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80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alcance e iniciativas esportivas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DD5EA1-96EE-47C8-9FDF-D2B0DC93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1482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4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02FB17-1DE3-4621-9E78-76AD7134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defRPr>
            </a:pPr>
            <a:r>
              <a:rPr sz="1238" b="1" i="0">
                <a:solidFill>
                  <a:srgbClr val="17191A"/>
                </a:solidFill>
                <a:latin typeface="Avenir Next"/>
                <a:ea typeface="Avenir Next"/>
                <a:cs typeface="Avenir Next"/>
              </a:rPr>
              <a:t>Clube NSC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684441-46C1-4925-8389-79E02E90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862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benefícios e presença em SC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661D52-46EE-4FFA-AF53-78F53647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91150"/>
            <a:ext cx="102489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141516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6C40ED-510B-4AB1-A24B-E5F402BF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34025"/>
            <a:ext cx="967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13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13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Limite central: 478 e 559 são medidas de universos distintos. A proposta usa a diferença para defender contexto metodológico, não para acusar erro ou calcular cobertura.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831A8B-3B4B-4EB6-87D2-D13DA3F0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9D8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2d0ddf6594af9"/>
          <a:stretch xmlns:a="http://schemas.openxmlformats.org/drawingml/2006/main"/>
        </p:blipFill>
        <p:spPr>
          <a:xfrm xmlns:a="http://schemas.openxmlformats.org/drawingml/2006/main">
            <a:off x="609600" y="6553200"/>
            <a:ext cx="1314450" cy="219075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41993A-844E-43B3-964D-DDD0EDE8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436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6E7377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288047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2026-09-10T15:32:48.2150000Z</dcterms:created>
  <dcterms:modified xsi:type="dcterms:W3CDTF">2026-09-10T15:32:48.2150000Z</dcterms:modified>
</coreProperties>
</file>